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 snapToObjects="1">
      <p:cViewPr varScale="1">
        <p:scale>
          <a:sx n="147" d="100"/>
          <a:sy n="147" d="100"/>
        </p:scale>
        <p:origin x="22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1"/>
          <p:cNvSpPr txBox="1"/>
          <p:nvPr/>
        </p:nvSpPr>
        <p:spPr>
          <a:xfrm>
            <a:off x="822960" y="19202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6E9EC"/>
                </a:solidFill>
                <a:latin typeface="Calibri"/>
              </a:rPr>
              <a:t>The Koopman operator: strong prediction, non-inferior control</a:t>
            </a:r>
          </a:p>
        </p:txBody>
      </p:sp>
      <p:sp>
        <p:nvSpPr>
          <p:cNvPr id="4" name="t1_bar"/>
          <p:cNvSpPr/>
          <p:nvPr/>
        </p:nvSpPr>
        <p:spPr>
          <a:xfrm>
            <a:off x="822960" y="3621024"/>
            <a:ext cx="2011680" cy="45720"/>
          </a:xfrm>
          <a:prstGeom prst="rect">
            <a:avLst/>
          </a:prstGeom>
          <a:solidFill>
            <a:srgbClr val="EFC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1_sub"/>
          <p:cNvSpPr txBox="1"/>
          <p:nvPr/>
        </p:nvSpPr>
        <p:spPr>
          <a:xfrm>
            <a:off x="822960" y="3913632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98A0A8"/>
                </a:solidFill>
                <a:latin typeface="Calibri"/>
              </a:rPr>
              <a:t>Four multi-turn tasks; the evidence is hard on the prediction side, and only non-inferiority on the control side.</a:t>
            </a:r>
          </a:p>
        </p:txBody>
      </p:sp>
      <p:sp>
        <p:nvSpPr>
          <p:cNvPr id="6" name="t1_meta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8A0A8"/>
                </a:solidFill>
                <a:latin typeface="Calibri"/>
              </a:rPr>
              <a:t>Hongyu Cao · CLAIM Lab · 2026-09-17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8A0A8"/>
                </a:solidFill>
                <a:latin typeface="Calibri"/>
              </a:rPr>
              <a:t>Numbers from autoencoder_koopman_core @ 2d2718c / 6304abc / e8ac78d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6E9EC"/>
                </a:solidFill>
                <a:latin typeface="Calibri"/>
              </a:rPr>
              <a:t>New task: one rewrite instruction per turn, to a target difficulty level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3268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8A0A8"/>
                </a:solidFill>
                <a:latin typeface="Calibri"/>
              </a:rPr>
              <a:t>Task 4 · tsar_cefr · added this week</a:t>
            </a:r>
          </a:p>
        </p:txBody>
      </p:sp>
      <p:sp>
        <p:nvSpPr>
          <p:cNvPr id="5" name="rule"/>
          <p:cNvSpPr/>
          <p:nvPr/>
        </p:nvSpPr>
        <p:spPr>
          <a:xfrm>
            <a:off x="502920" y="1371600"/>
            <a:ext cx="11183112" cy="16459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2_body"/>
          <p:cNvSpPr txBox="1"/>
          <p:nvPr/>
        </p:nvSpPr>
        <p:spPr>
          <a:xfrm>
            <a:off x="502920" y="1645920"/>
            <a:ext cx="107899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One rewrite instruction per turn pushes the paragraph toward A2 or B1.</a:t>
            </a:r>
          </a:p>
          <a:p>
            <a:pPr algn="l">
              <a:lnSpc>
                <a:spcPct val="17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The scoring is done by the official difficulty classifier, not by the model being rewritten.</a:t>
            </a:r>
          </a:p>
          <a:p>
            <a:pPr algn="l">
              <a:lnSpc>
                <a:spcPct val="17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We picked it because the instruction enters the next turn's input, and overshooting costs.</a:t>
            </a:r>
          </a:p>
        </p:txBody>
      </p:sp>
      <p:sp>
        <p:nvSpPr>
          <p:cNvPr id="7" name="node"/>
          <p:cNvSpPr/>
          <p:nvPr/>
        </p:nvSpPr>
        <p:spPr>
          <a:xfrm>
            <a:off x="502920" y="429768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1E242A"/>
          </a:solidFill>
          <a:ln w="19050">
            <a:solidFill>
              <a:srgbClr val="F18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E6E9EC"/>
                </a:solidFill>
                <a:latin typeface="Calibri"/>
              </a:rPr>
              <a:t>One rewrite instruction
down one / down half / paraphrase / keep</a:t>
            </a:r>
          </a:p>
        </p:txBody>
      </p:sp>
      <p:sp>
        <p:nvSpPr>
          <p:cNvPr id="8" name="arrow"/>
          <p:cNvSpPr/>
          <p:nvPr/>
        </p:nvSpPr>
        <p:spPr>
          <a:xfrm>
            <a:off x="2880360" y="4608576"/>
            <a:ext cx="411480" cy="146304"/>
          </a:xfrm>
          <a:prstGeom prst="rightArrow">
            <a:avLst/>
          </a:prstGeom>
          <a:solidFill>
            <a:srgbClr val="98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ode"/>
          <p:cNvSpPr/>
          <p:nvPr/>
        </p:nvSpPr>
        <p:spPr>
          <a:xfrm>
            <a:off x="3383280" y="429768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1E242A"/>
          </a:solidFill>
          <a:ln w="19050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E6E9EC"/>
                </a:solidFill>
                <a:latin typeface="Calibri"/>
              </a:rPr>
              <a:t>Model rewrites
the paragraph</a:t>
            </a:r>
          </a:p>
        </p:txBody>
      </p:sp>
      <p:sp>
        <p:nvSpPr>
          <p:cNvPr id="10" name="arrow"/>
          <p:cNvSpPr/>
          <p:nvPr/>
        </p:nvSpPr>
        <p:spPr>
          <a:xfrm>
            <a:off x="5394960" y="4608576"/>
            <a:ext cx="411480" cy="146304"/>
          </a:xfrm>
          <a:prstGeom prst="rightArrow">
            <a:avLst/>
          </a:prstGeom>
          <a:solidFill>
            <a:srgbClr val="98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ode"/>
          <p:cNvSpPr/>
          <p:nvPr/>
        </p:nvSpPr>
        <p:spPr>
          <a:xfrm>
            <a:off x="5897880" y="429768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1E242A"/>
          </a:solidFill>
          <a:ln w="19050">
            <a:solidFill>
              <a:srgbClr val="5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E6E9EC"/>
                </a:solidFill>
                <a:latin typeface="Calibri"/>
              </a:rPr>
              <a:t>Difficulty classifier scores
expected CEFR level</a:t>
            </a:r>
          </a:p>
        </p:txBody>
      </p:sp>
      <p:sp>
        <p:nvSpPr>
          <p:cNvPr id="12" name="arrow"/>
          <p:cNvSpPr/>
          <p:nvPr/>
        </p:nvSpPr>
        <p:spPr>
          <a:xfrm>
            <a:off x="8183879" y="4608576"/>
            <a:ext cx="411480" cy="146304"/>
          </a:xfrm>
          <a:prstGeom prst="rightArrow">
            <a:avLst/>
          </a:prstGeom>
          <a:solidFill>
            <a:srgbClr val="98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ode"/>
          <p:cNvSpPr/>
          <p:nvPr/>
        </p:nvSpPr>
        <p:spPr>
          <a:xfrm>
            <a:off x="8686800" y="429768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1E242A"/>
          </a:solidFill>
          <a:ln w="19050">
            <a:solidFill>
              <a:srgbClr val="EFC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E6E9EC"/>
                </a:solidFill>
                <a:latin typeface="Calibri"/>
              </a:rPr>
              <a:t>Compare with target
issue the next instruction</a:t>
            </a:r>
          </a:p>
        </p:txBody>
      </p:sp>
      <p:sp>
        <p:nvSpPr>
          <p:cNvPr id="14" name="loopline"/>
          <p:cNvSpPr/>
          <p:nvPr/>
        </p:nvSpPr>
        <p:spPr>
          <a:xfrm>
            <a:off x="502920" y="5257800"/>
            <a:ext cx="10287000" cy="32004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oop_lab"/>
          <p:cNvSpPr txBox="1"/>
          <p:nvPr/>
        </p:nvSpPr>
        <p:spPr>
          <a:xfrm>
            <a:off x="4206240" y="53218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8A0A8"/>
                </a:solidFill>
                <a:latin typeface="Calibri"/>
              </a:rPr>
              <a:t>Repeated every turn, 4 steps in all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502920" y="6053328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98A0A8"/>
                </a:solidFill>
                <a:latin typeface="Calibri"/>
              </a:rPr>
              <a:t>199 source paragraphs × 4 randomised steps · Qwen3-4B-Instruct · readout = TSAR official CEFR classifier (published F1 0.89)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74320"/>
            <a:ext cx="8915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6E9EC"/>
                </a:solidFill>
                <a:latin typeface="Calibri"/>
              </a:rPr>
              <a:t>What the next table measures: 4-step rollout error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3268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8A0A8"/>
                </a:solidFill>
                <a:latin typeface="Calibri"/>
              </a:rPr>
              <a:t>The true score is given once at the start; after that the model feeds on itself</a:t>
            </a:r>
          </a:p>
        </p:txBody>
      </p:sp>
      <p:sp>
        <p:nvSpPr>
          <p:cNvPr id="5" name="rule"/>
          <p:cNvSpPr/>
          <p:nvPr/>
        </p:nvSpPr>
        <p:spPr>
          <a:xfrm>
            <a:off x="502920" y="1371600"/>
            <a:ext cx="11183112" cy="16459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etag"/>
          <p:cNvSpPr/>
          <p:nvPr/>
        </p:nvSpPr>
        <p:spPr>
          <a:xfrm>
            <a:off x="10934395" y="310896"/>
            <a:ext cx="754380" cy="420624"/>
          </a:xfrm>
          <a:prstGeom prst="roundRect">
            <a:avLst>
              <a:gd name="adj" fmla="val 28000"/>
            </a:avLst>
          </a:prstGeom>
          <a:solidFill>
            <a:srgbClr val="1E242A"/>
          </a:solidFill>
          <a:ln w="12700">
            <a:solidFill>
              <a:srgbClr val="5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tag_tx"/>
          <p:cNvSpPr txBox="1"/>
          <p:nvPr/>
        </p:nvSpPr>
        <p:spPr>
          <a:xfrm>
            <a:off x="10934395" y="411480"/>
            <a:ext cx="754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5FA8DC"/>
                </a:solidFill>
                <a:latin typeface="Calibri"/>
              </a:rPr>
              <a:t>Perception</a:t>
            </a:r>
          </a:p>
        </p:txBody>
      </p:sp>
      <p:pic>
        <p:nvPicPr>
          <p:cNvPr id="8" name="fig" descr="fig3_roll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12" y="1481328"/>
            <a:ext cx="4490479" cy="4736592"/>
          </a:xfrm>
          <a:prstGeom prst="rect">
            <a:avLst/>
          </a:prstGeom>
        </p:spPr>
      </p:pic>
      <p:sp>
        <p:nvSpPr>
          <p:cNvPr id="9" name="card_purpose"/>
          <p:cNvSpPr/>
          <p:nvPr/>
        </p:nvSpPr>
        <p:spPr>
          <a:xfrm>
            <a:off x="6172200" y="1645920"/>
            <a:ext cx="5532120" cy="169164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_purpose_accent"/>
          <p:cNvSpPr/>
          <p:nvPr/>
        </p:nvSpPr>
        <p:spPr>
          <a:xfrm>
            <a:off x="6172200" y="1645920"/>
            <a:ext cx="50292" cy="1691640"/>
          </a:xfrm>
          <a:prstGeom prst="rect">
            <a:avLst/>
          </a:prstGeom>
          <a:solidFill>
            <a:srgbClr val="5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_purpose_tx"/>
          <p:cNvSpPr txBox="1"/>
          <p:nvPr/>
        </p:nvSpPr>
        <p:spPr>
          <a:xfrm>
            <a:off x="6446520" y="184708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FA8DC"/>
                </a:solidFill>
                <a:latin typeface="Calibri"/>
              </a:rPr>
              <a:t>Why measure it this way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Handing over the true score at every step is too easy — the score has inertia of its own.</a:t>
            </a:r>
          </a:p>
        </p:txBody>
      </p:sp>
      <p:sp>
        <p:nvSpPr>
          <p:cNvPr id="12" name="card_read"/>
          <p:cNvSpPr/>
          <p:nvPr/>
        </p:nvSpPr>
        <p:spPr>
          <a:xfrm>
            <a:off x="6172200" y="3474720"/>
            <a:ext cx="5532120" cy="169164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_read_accent"/>
          <p:cNvSpPr/>
          <p:nvPr/>
        </p:nvSpPr>
        <p:spPr>
          <a:xfrm>
            <a:off x="6172200" y="3474720"/>
            <a:ext cx="50292" cy="1691640"/>
          </a:xfrm>
          <a:prstGeom prst="rect">
            <a:avLst/>
          </a:prstGeom>
          <a:solidFill>
            <a:srgbClr val="F18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_read_tx"/>
          <p:cNvSpPr txBox="1"/>
          <p:nvPr/>
        </p:nvSpPr>
        <p:spPr>
          <a:xfrm>
            <a:off x="6446520" y="3675887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181B4"/>
                </a:solidFill>
                <a:latin typeface="Calibri"/>
              </a:rPr>
              <a:t>How to read it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Errors accumulate, so this tests understanding of the dynamics rather than of one step.</a:t>
            </a:r>
          </a:p>
        </p:txBody>
      </p:sp>
      <p:sp>
        <p:nvSpPr>
          <p:cNvPr id="15" name="card_note"/>
          <p:cNvSpPr/>
          <p:nvPr/>
        </p:nvSpPr>
        <p:spPr>
          <a:xfrm>
            <a:off x="6172200" y="5303520"/>
            <a:ext cx="5532120" cy="86868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_note_accent"/>
          <p:cNvSpPr/>
          <p:nvPr/>
        </p:nvSpPr>
        <p:spPr>
          <a:xfrm>
            <a:off x="6172200" y="5303520"/>
            <a:ext cx="50292" cy="868680"/>
          </a:xfrm>
          <a:prstGeom prst="rect">
            <a:avLst/>
          </a:prstGeom>
          <a:solidFill>
            <a:srgbClr val="EFC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_note_tx"/>
          <p:cNvSpPr txBox="1"/>
          <p:nvPr/>
        </p:nvSpPr>
        <p:spPr>
          <a:xfrm>
            <a:off x="6446520" y="5468112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6E9EC"/>
                </a:solidFill>
                <a:latin typeface="Calibri"/>
              </a:rPr>
              <a:t>Four steps is exactly what the controller plans over; the control results are on the last page.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502920" y="6272784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98A0A8"/>
                </a:solidFill>
                <a:latin typeface="Calibri"/>
              </a:rPr>
              <a:t>Schematic, not measured data. Rollout (free-running) H-step prediction: the model is seeded with the observed prefix once, then re-ingests its own output. MSE_H averages the squared error over all H steps of every window; H = 6 (t10) / 3 (t5) / 4 (behavioural, = the MPC planning horizon). One-step error is barred as a headline number (ruling 2, 2026-09-12) and reported only in the appendix.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74320"/>
            <a:ext cx="8915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6E9EC"/>
                </a:solidFill>
                <a:latin typeface="Calibri"/>
              </a:rPr>
              <a:t>Main table: 4-step rollout error, 11 tasks × 6 model classes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3268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8A0A8"/>
                </a:solidFill>
                <a:latin typeface="Calibri"/>
              </a:rPr>
              <a:t>Cells hold the error itself, in the unit of that column's own score — lower is better</a:t>
            </a:r>
          </a:p>
        </p:txBody>
      </p:sp>
      <p:sp>
        <p:nvSpPr>
          <p:cNvPr id="5" name="rule"/>
          <p:cNvSpPr/>
          <p:nvPr/>
        </p:nvSpPr>
        <p:spPr>
          <a:xfrm>
            <a:off x="502920" y="1371600"/>
            <a:ext cx="11183112" cy="16459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etag"/>
          <p:cNvSpPr/>
          <p:nvPr/>
        </p:nvSpPr>
        <p:spPr>
          <a:xfrm>
            <a:off x="10934395" y="310896"/>
            <a:ext cx="754380" cy="420624"/>
          </a:xfrm>
          <a:prstGeom prst="roundRect">
            <a:avLst>
              <a:gd name="adj" fmla="val 28000"/>
            </a:avLst>
          </a:prstGeom>
          <a:solidFill>
            <a:srgbClr val="1E242A"/>
          </a:solidFill>
          <a:ln w="12700">
            <a:solidFill>
              <a:srgbClr val="5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tag_tx"/>
          <p:cNvSpPr txBox="1"/>
          <p:nvPr/>
        </p:nvSpPr>
        <p:spPr>
          <a:xfrm>
            <a:off x="10934395" y="411480"/>
            <a:ext cx="754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5FA8DC"/>
                </a:solidFill>
                <a:latin typeface="Calibri"/>
              </a:rPr>
              <a:t>Perception</a:t>
            </a:r>
          </a:p>
        </p:txBody>
      </p:sp>
      <p:sp>
        <p:nvSpPr>
          <p:cNvPr id="8" name="cell"/>
          <p:cNvSpPr/>
          <p:nvPr/>
        </p:nvSpPr>
        <p:spPr>
          <a:xfrm>
            <a:off x="1956816" y="1188719"/>
            <a:ext cx="2585466" cy="29260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grouphead"/>
          <p:cNvSpPr txBox="1"/>
          <p:nvPr/>
        </p:nvSpPr>
        <p:spPr>
          <a:xfrm>
            <a:off x="1956816" y="1234439"/>
            <a:ext cx="25854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8A0A8"/>
                </a:solidFill>
                <a:latin typeface="Calibri"/>
              </a:rPr>
              <a:t>Core tasks · 10 turns</a:t>
            </a:r>
          </a:p>
        </p:txBody>
      </p:sp>
      <p:sp>
        <p:nvSpPr>
          <p:cNvPr id="10" name="cell"/>
          <p:cNvSpPr/>
          <p:nvPr/>
        </p:nvSpPr>
        <p:spPr>
          <a:xfrm>
            <a:off x="4542282" y="1188719"/>
            <a:ext cx="3447288" cy="29260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rouphead"/>
          <p:cNvSpPr txBox="1"/>
          <p:nvPr/>
        </p:nvSpPr>
        <p:spPr>
          <a:xfrm>
            <a:off x="4542282" y="1234439"/>
            <a:ext cx="3447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8A0A8"/>
                </a:solidFill>
                <a:latin typeface="Calibri"/>
              </a:rPr>
              <a:t>Core tasks · 5 turns</a:t>
            </a:r>
          </a:p>
        </p:txBody>
      </p:sp>
      <p:sp>
        <p:nvSpPr>
          <p:cNvPr id="12" name="cell"/>
          <p:cNvSpPr/>
          <p:nvPr/>
        </p:nvSpPr>
        <p:spPr>
          <a:xfrm>
            <a:off x="7989570" y="1188719"/>
            <a:ext cx="3447288" cy="29260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grouphead"/>
          <p:cNvSpPr txBox="1"/>
          <p:nvPr/>
        </p:nvSpPr>
        <p:spPr>
          <a:xfrm>
            <a:off x="7989570" y="1234439"/>
            <a:ext cx="3447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8A0A8"/>
                </a:solidFill>
                <a:latin typeface="Calibri"/>
              </a:rPr>
              <a:t>Multi-turn dialogue tasks</a:t>
            </a:r>
          </a:p>
        </p:txBody>
      </p:sp>
      <p:sp>
        <p:nvSpPr>
          <p:cNvPr id="14" name="cell"/>
          <p:cNvSpPr/>
          <p:nvPr/>
        </p:nvSpPr>
        <p:spPr>
          <a:xfrm>
            <a:off x="384048" y="1517904"/>
            <a:ext cx="1572768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rner"/>
          <p:cNvSpPr txBox="1"/>
          <p:nvPr/>
        </p:nvSpPr>
        <p:spPr>
          <a:xfrm>
            <a:off x="475488" y="1673351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FA8DC"/>
                </a:solidFill>
                <a:latin typeface="Calibri"/>
              </a:rPr>
              <a:t>4-step rollout error ↓</a:t>
            </a:r>
          </a:p>
          <a:p>
            <a:pPr algn="l">
              <a:lnSpc>
                <a:spcPct val="140000"/>
              </a:lnSpc>
            </a:pPr>
            <a:r>
              <a:rPr sz="750" b="0">
                <a:solidFill>
                  <a:srgbClr val="98A0A8"/>
                </a:solidFill>
                <a:latin typeface="Calibri"/>
              </a:rPr>
              <a:t>unit = that column's score</a:t>
            </a:r>
          </a:p>
        </p:txBody>
      </p:sp>
      <p:sp>
        <p:nvSpPr>
          <p:cNvPr id="16" name="cell"/>
          <p:cNvSpPr/>
          <p:nvPr/>
        </p:nvSpPr>
        <p:spPr>
          <a:xfrm>
            <a:off x="1956816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lhead_zh"/>
          <p:cNvSpPr txBox="1"/>
          <p:nvPr/>
        </p:nvSpPr>
        <p:spPr>
          <a:xfrm>
            <a:off x="1965960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10-turn
sentence len.</a:t>
            </a:r>
          </a:p>
        </p:txBody>
      </p:sp>
      <p:sp>
        <p:nvSpPr>
          <p:cNvPr id="18" name="colhead_en"/>
          <p:cNvSpPr txBox="1"/>
          <p:nvPr/>
        </p:nvSpPr>
        <p:spPr>
          <a:xfrm>
            <a:off x="1965960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sentence_length_t10</a:t>
            </a:r>
          </a:p>
        </p:txBody>
      </p:sp>
      <p:sp>
        <p:nvSpPr>
          <p:cNvPr id="19" name="colhead_scale"/>
          <p:cNvSpPr txBox="1"/>
          <p:nvPr/>
        </p:nvSpPr>
        <p:spPr>
          <a:xfrm>
            <a:off x="1965960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×10⁻³ ↓</a:t>
            </a:r>
          </a:p>
        </p:txBody>
      </p:sp>
      <p:sp>
        <p:nvSpPr>
          <p:cNvPr id="20" name="cell"/>
          <p:cNvSpPr/>
          <p:nvPr/>
        </p:nvSpPr>
        <p:spPr>
          <a:xfrm>
            <a:off x="2818638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lhead_zh"/>
          <p:cNvSpPr txBox="1"/>
          <p:nvPr/>
        </p:nvSpPr>
        <p:spPr>
          <a:xfrm>
            <a:off x="2827782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10-turn
count Ⅱ</a:t>
            </a:r>
          </a:p>
        </p:txBody>
      </p:sp>
      <p:sp>
        <p:nvSpPr>
          <p:cNvPr id="22" name="colhead_en"/>
          <p:cNvSpPr txBox="1"/>
          <p:nvPr/>
        </p:nvSpPr>
        <p:spPr>
          <a:xfrm>
            <a:off x="2827782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vector_count_stage2_t10</a:t>
            </a:r>
          </a:p>
        </p:txBody>
      </p:sp>
      <p:sp>
        <p:nvSpPr>
          <p:cNvPr id="23" name="colhead_scale"/>
          <p:cNvSpPr txBox="1"/>
          <p:nvPr/>
        </p:nvSpPr>
        <p:spPr>
          <a:xfrm>
            <a:off x="2827782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×10⁻² ↓</a:t>
            </a:r>
          </a:p>
        </p:txBody>
      </p:sp>
      <p:sp>
        <p:nvSpPr>
          <p:cNvPr id="24" name="cell"/>
          <p:cNvSpPr/>
          <p:nvPr/>
        </p:nvSpPr>
        <p:spPr>
          <a:xfrm>
            <a:off x="3680460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lhead_zh"/>
          <p:cNvSpPr txBox="1"/>
          <p:nvPr/>
        </p:nvSpPr>
        <p:spPr>
          <a:xfrm>
            <a:off x="3689604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10-turn
count Ⅰ</a:t>
            </a:r>
          </a:p>
        </p:txBody>
      </p:sp>
      <p:sp>
        <p:nvSpPr>
          <p:cNvPr id="26" name="colhead_en"/>
          <p:cNvSpPr txBox="1"/>
          <p:nvPr/>
        </p:nvSpPr>
        <p:spPr>
          <a:xfrm>
            <a:off x="3689604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vector_count_stage1_t10</a:t>
            </a:r>
          </a:p>
        </p:txBody>
      </p:sp>
      <p:sp>
        <p:nvSpPr>
          <p:cNvPr id="27" name="colhead_scale"/>
          <p:cNvSpPr txBox="1"/>
          <p:nvPr/>
        </p:nvSpPr>
        <p:spPr>
          <a:xfrm>
            <a:off x="3689604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×10⁻² ↓</a:t>
            </a:r>
          </a:p>
        </p:txBody>
      </p:sp>
      <p:sp>
        <p:nvSpPr>
          <p:cNvPr id="28" name="cell"/>
          <p:cNvSpPr/>
          <p:nvPr/>
        </p:nvSpPr>
        <p:spPr>
          <a:xfrm>
            <a:off x="4542282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olhead_zh"/>
          <p:cNvSpPr txBox="1"/>
          <p:nvPr/>
        </p:nvSpPr>
        <p:spPr>
          <a:xfrm>
            <a:off x="4551426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5-turn
char. len.</a:t>
            </a:r>
          </a:p>
        </p:txBody>
      </p:sp>
      <p:sp>
        <p:nvSpPr>
          <p:cNvPr id="30" name="colhead_en"/>
          <p:cNvSpPr txBox="1"/>
          <p:nvPr/>
        </p:nvSpPr>
        <p:spPr>
          <a:xfrm>
            <a:off x="4551426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character_length_t5</a:t>
            </a:r>
          </a:p>
        </p:txBody>
      </p:sp>
      <p:sp>
        <p:nvSpPr>
          <p:cNvPr id="31" name="colhead_scale"/>
          <p:cNvSpPr txBox="1"/>
          <p:nvPr/>
        </p:nvSpPr>
        <p:spPr>
          <a:xfrm>
            <a:off x="4551426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×10⁻³ ↓</a:t>
            </a:r>
          </a:p>
        </p:txBody>
      </p:sp>
      <p:sp>
        <p:nvSpPr>
          <p:cNvPr id="32" name="cell"/>
          <p:cNvSpPr/>
          <p:nvPr/>
        </p:nvSpPr>
        <p:spPr>
          <a:xfrm>
            <a:off x="5404104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lhead_zh"/>
          <p:cNvSpPr txBox="1"/>
          <p:nvPr/>
        </p:nvSpPr>
        <p:spPr>
          <a:xfrm>
            <a:off x="5413248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5-turn
formality</a:t>
            </a:r>
          </a:p>
        </p:txBody>
      </p:sp>
      <p:sp>
        <p:nvSpPr>
          <p:cNvPr id="34" name="colhead_en"/>
          <p:cNvSpPr txBox="1"/>
          <p:nvPr/>
        </p:nvSpPr>
        <p:spPr>
          <a:xfrm>
            <a:off x="5413248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formality_t5</a:t>
            </a:r>
          </a:p>
        </p:txBody>
      </p:sp>
      <p:sp>
        <p:nvSpPr>
          <p:cNvPr id="35" name="colhead_scale"/>
          <p:cNvSpPr txBox="1"/>
          <p:nvPr/>
        </p:nvSpPr>
        <p:spPr>
          <a:xfrm>
            <a:off x="5413248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×10⁻³ ↓</a:t>
            </a:r>
          </a:p>
        </p:txBody>
      </p:sp>
      <p:sp>
        <p:nvSpPr>
          <p:cNvPr id="36" name="cell"/>
          <p:cNvSpPr/>
          <p:nvPr/>
        </p:nvSpPr>
        <p:spPr>
          <a:xfrm>
            <a:off x="6265926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olhead_zh"/>
          <p:cNvSpPr txBox="1"/>
          <p:nvPr/>
        </p:nvSpPr>
        <p:spPr>
          <a:xfrm>
            <a:off x="6275070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5-turn
sentiment</a:t>
            </a:r>
          </a:p>
        </p:txBody>
      </p:sp>
      <p:sp>
        <p:nvSpPr>
          <p:cNvPr id="38" name="colhead_en"/>
          <p:cNvSpPr txBox="1"/>
          <p:nvPr/>
        </p:nvSpPr>
        <p:spPr>
          <a:xfrm>
            <a:off x="6275070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sentiment_t5</a:t>
            </a:r>
          </a:p>
        </p:txBody>
      </p:sp>
      <p:sp>
        <p:nvSpPr>
          <p:cNvPr id="39" name="colhead_scale"/>
          <p:cNvSpPr txBox="1"/>
          <p:nvPr/>
        </p:nvSpPr>
        <p:spPr>
          <a:xfrm>
            <a:off x="6275070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×10⁻³ ↓</a:t>
            </a:r>
          </a:p>
        </p:txBody>
      </p:sp>
      <p:sp>
        <p:nvSpPr>
          <p:cNvPr id="40" name="cell"/>
          <p:cNvSpPr/>
          <p:nvPr/>
        </p:nvSpPr>
        <p:spPr>
          <a:xfrm>
            <a:off x="7127748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olhead_zh"/>
          <p:cNvSpPr txBox="1"/>
          <p:nvPr/>
        </p:nvSpPr>
        <p:spPr>
          <a:xfrm>
            <a:off x="7136892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5-turn
word len.</a:t>
            </a:r>
          </a:p>
        </p:txBody>
      </p:sp>
      <p:sp>
        <p:nvSpPr>
          <p:cNvPr id="42" name="colhead_en"/>
          <p:cNvSpPr txBox="1"/>
          <p:nvPr/>
        </p:nvSpPr>
        <p:spPr>
          <a:xfrm>
            <a:off x="7136892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average_word_length_t5</a:t>
            </a:r>
          </a:p>
        </p:txBody>
      </p:sp>
      <p:sp>
        <p:nvSpPr>
          <p:cNvPr id="43" name="colhead_scale"/>
          <p:cNvSpPr txBox="1"/>
          <p:nvPr/>
        </p:nvSpPr>
        <p:spPr>
          <a:xfrm>
            <a:off x="7136892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×10⁻³ ↓</a:t>
            </a:r>
          </a:p>
        </p:txBody>
      </p:sp>
      <p:sp>
        <p:nvSpPr>
          <p:cNvPr id="44" name="cell"/>
          <p:cNvSpPr/>
          <p:nvPr/>
        </p:nvSpPr>
        <p:spPr>
          <a:xfrm>
            <a:off x="7989570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olhead_zh"/>
          <p:cNvSpPr txBox="1"/>
          <p:nvPr/>
        </p:nvSpPr>
        <p:spPr>
          <a:xfrm>
            <a:off x="7998714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Task 1
safety</a:t>
            </a:r>
          </a:p>
        </p:txBody>
      </p:sp>
      <p:sp>
        <p:nvSpPr>
          <p:cNvPr id="46" name="colhead_en"/>
          <p:cNvSpPr txBox="1"/>
          <p:nvPr/>
        </p:nvSpPr>
        <p:spPr>
          <a:xfrm>
            <a:off x="7998714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defense</a:t>
            </a:r>
          </a:p>
        </p:txBody>
      </p:sp>
      <p:sp>
        <p:nvSpPr>
          <p:cNvPr id="47" name="colhead_scale"/>
          <p:cNvSpPr txBox="1"/>
          <p:nvPr/>
        </p:nvSpPr>
        <p:spPr>
          <a:xfrm>
            <a:off x="7998714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×10⁻² ↓</a:t>
            </a:r>
          </a:p>
        </p:txBody>
      </p:sp>
      <p:sp>
        <p:nvSpPr>
          <p:cNvPr id="48" name="cell"/>
          <p:cNvSpPr/>
          <p:nvPr/>
        </p:nvSpPr>
        <p:spPr>
          <a:xfrm>
            <a:off x="8851392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olhead_zh"/>
          <p:cNvSpPr txBox="1"/>
          <p:nvPr/>
        </p:nvSpPr>
        <p:spPr>
          <a:xfrm>
            <a:off x="8860536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Task 2
sharded math</a:t>
            </a:r>
          </a:p>
        </p:txBody>
      </p:sp>
      <p:sp>
        <p:nvSpPr>
          <p:cNvPr id="50" name="colhead_en"/>
          <p:cNvSpPr txBox="1"/>
          <p:nvPr/>
        </p:nvSpPr>
        <p:spPr>
          <a:xfrm>
            <a:off x="8860536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gsm8k_sharded</a:t>
            </a:r>
          </a:p>
        </p:txBody>
      </p:sp>
      <p:sp>
        <p:nvSpPr>
          <p:cNvPr id="51" name="colhead_scale"/>
          <p:cNvSpPr txBox="1"/>
          <p:nvPr/>
        </p:nvSpPr>
        <p:spPr>
          <a:xfrm>
            <a:off x="8860536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×10⁻¹ ↓</a:t>
            </a:r>
          </a:p>
        </p:txBody>
      </p:sp>
      <p:sp>
        <p:nvSpPr>
          <p:cNvPr id="52" name="cell"/>
          <p:cNvSpPr/>
          <p:nvPr/>
        </p:nvSpPr>
        <p:spPr>
          <a:xfrm>
            <a:off x="9713214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olhead_zh"/>
          <p:cNvSpPr txBox="1"/>
          <p:nvPr/>
        </p:nvSpPr>
        <p:spPr>
          <a:xfrm>
            <a:off x="9722358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Task 3
constraints</a:t>
            </a:r>
          </a:p>
        </p:txBody>
      </p:sp>
      <p:sp>
        <p:nvSpPr>
          <p:cNvPr id="54" name="colhead_en"/>
          <p:cNvSpPr txBox="1"/>
          <p:nvPr/>
        </p:nvSpPr>
        <p:spPr>
          <a:xfrm>
            <a:off x="9722358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constraint</a:t>
            </a:r>
          </a:p>
        </p:txBody>
      </p:sp>
      <p:sp>
        <p:nvSpPr>
          <p:cNvPr id="55" name="colhead_scale"/>
          <p:cNvSpPr txBox="1"/>
          <p:nvPr/>
        </p:nvSpPr>
        <p:spPr>
          <a:xfrm>
            <a:off x="9722358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×10⁻² ↓</a:t>
            </a:r>
          </a:p>
        </p:txBody>
      </p:sp>
      <p:sp>
        <p:nvSpPr>
          <p:cNvPr id="56" name="cell"/>
          <p:cNvSpPr/>
          <p:nvPr/>
        </p:nvSpPr>
        <p:spPr>
          <a:xfrm>
            <a:off x="10575036" y="1517904"/>
            <a:ext cx="861822" cy="694944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olhead_zh"/>
          <p:cNvSpPr txBox="1"/>
          <p:nvPr/>
        </p:nvSpPr>
        <p:spPr>
          <a:xfrm>
            <a:off x="10584180" y="1563624"/>
            <a:ext cx="84353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E6E9EC"/>
                </a:solidFill>
                <a:latin typeface="Calibri"/>
              </a:rPr>
              <a:t>Task 4
CEFR level</a:t>
            </a:r>
          </a:p>
        </p:txBody>
      </p:sp>
      <p:sp>
        <p:nvSpPr>
          <p:cNvPr id="58" name="colhead_en"/>
          <p:cNvSpPr txBox="1"/>
          <p:nvPr/>
        </p:nvSpPr>
        <p:spPr>
          <a:xfrm>
            <a:off x="10584180" y="1883664"/>
            <a:ext cx="8435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" b="0">
                <a:solidFill>
                  <a:srgbClr val="98A0A8"/>
                </a:solidFill>
                <a:latin typeface="Calibri"/>
              </a:rPr>
              <a:t>tsar_cefr</a:t>
            </a:r>
          </a:p>
        </p:txBody>
      </p:sp>
      <p:sp>
        <p:nvSpPr>
          <p:cNvPr id="59" name="colhead_scale"/>
          <p:cNvSpPr txBox="1"/>
          <p:nvPr/>
        </p:nvSpPr>
        <p:spPr>
          <a:xfrm>
            <a:off x="10584180" y="2029967"/>
            <a:ext cx="84353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5FA8DC"/>
                </a:solidFill>
                <a:latin typeface="Calibri"/>
              </a:rPr>
              <a:t>×10⁻¹ ↓</a:t>
            </a:r>
          </a:p>
        </p:txBody>
      </p:sp>
      <p:sp>
        <p:nvSpPr>
          <p:cNvPr id="60" name="cell"/>
          <p:cNvSpPr/>
          <p:nvPr/>
        </p:nvSpPr>
        <p:spPr>
          <a:xfrm>
            <a:off x="384048" y="2212848"/>
            <a:ext cx="1572768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wname"/>
          <p:cNvSpPr txBox="1"/>
          <p:nvPr/>
        </p:nvSpPr>
        <p:spPr>
          <a:xfrm>
            <a:off x="475488" y="231343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E6E9EC"/>
                </a:solidFill>
                <a:latin typeface="Calibri"/>
              </a:rPr>
              <a:t>History-blind guess</a:t>
            </a:r>
          </a:p>
        </p:txBody>
      </p:sp>
      <p:sp>
        <p:nvSpPr>
          <p:cNvPr id="62" name="cell"/>
          <p:cNvSpPr/>
          <p:nvPr/>
        </p:nvSpPr>
        <p:spPr>
          <a:xfrm>
            <a:off x="1956816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val"/>
          <p:cNvSpPr txBox="1"/>
          <p:nvPr/>
        </p:nvSpPr>
        <p:spPr>
          <a:xfrm>
            <a:off x="1975104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3.81</a:t>
            </a:r>
          </a:p>
        </p:txBody>
      </p:sp>
      <p:sp>
        <p:nvSpPr>
          <p:cNvPr id="64" name="cell"/>
          <p:cNvSpPr/>
          <p:nvPr/>
        </p:nvSpPr>
        <p:spPr>
          <a:xfrm>
            <a:off x="2818638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val"/>
          <p:cNvSpPr txBox="1"/>
          <p:nvPr/>
        </p:nvSpPr>
        <p:spPr>
          <a:xfrm>
            <a:off x="2836926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3.84</a:t>
            </a:r>
          </a:p>
        </p:txBody>
      </p:sp>
      <p:sp>
        <p:nvSpPr>
          <p:cNvPr id="66" name="cell"/>
          <p:cNvSpPr/>
          <p:nvPr/>
        </p:nvSpPr>
        <p:spPr>
          <a:xfrm>
            <a:off x="3680460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val"/>
          <p:cNvSpPr txBox="1"/>
          <p:nvPr/>
        </p:nvSpPr>
        <p:spPr>
          <a:xfrm>
            <a:off x="3698748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1.60</a:t>
            </a:r>
          </a:p>
        </p:txBody>
      </p:sp>
      <p:sp>
        <p:nvSpPr>
          <p:cNvPr id="68" name="cell"/>
          <p:cNvSpPr/>
          <p:nvPr/>
        </p:nvSpPr>
        <p:spPr>
          <a:xfrm>
            <a:off x="4542282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val"/>
          <p:cNvSpPr txBox="1"/>
          <p:nvPr/>
        </p:nvSpPr>
        <p:spPr>
          <a:xfrm>
            <a:off x="4560570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4.84</a:t>
            </a:r>
          </a:p>
        </p:txBody>
      </p:sp>
      <p:sp>
        <p:nvSpPr>
          <p:cNvPr id="70" name="cell"/>
          <p:cNvSpPr/>
          <p:nvPr/>
        </p:nvSpPr>
        <p:spPr>
          <a:xfrm>
            <a:off x="5404104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val"/>
          <p:cNvSpPr txBox="1"/>
          <p:nvPr/>
        </p:nvSpPr>
        <p:spPr>
          <a:xfrm>
            <a:off x="5422392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8.08</a:t>
            </a:r>
          </a:p>
        </p:txBody>
      </p:sp>
      <p:sp>
        <p:nvSpPr>
          <p:cNvPr id="72" name="cell"/>
          <p:cNvSpPr/>
          <p:nvPr/>
        </p:nvSpPr>
        <p:spPr>
          <a:xfrm>
            <a:off x="6265926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val"/>
          <p:cNvSpPr txBox="1"/>
          <p:nvPr/>
        </p:nvSpPr>
        <p:spPr>
          <a:xfrm>
            <a:off x="6284214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9.51</a:t>
            </a:r>
          </a:p>
        </p:txBody>
      </p:sp>
      <p:sp>
        <p:nvSpPr>
          <p:cNvPr id="74" name="cell"/>
          <p:cNvSpPr/>
          <p:nvPr/>
        </p:nvSpPr>
        <p:spPr>
          <a:xfrm>
            <a:off x="7127748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val"/>
          <p:cNvSpPr txBox="1"/>
          <p:nvPr/>
        </p:nvSpPr>
        <p:spPr>
          <a:xfrm>
            <a:off x="7146036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2.59</a:t>
            </a:r>
          </a:p>
        </p:txBody>
      </p:sp>
      <p:sp>
        <p:nvSpPr>
          <p:cNvPr id="76" name="cell"/>
          <p:cNvSpPr/>
          <p:nvPr/>
        </p:nvSpPr>
        <p:spPr>
          <a:xfrm>
            <a:off x="7989570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val"/>
          <p:cNvSpPr txBox="1"/>
          <p:nvPr/>
        </p:nvSpPr>
        <p:spPr>
          <a:xfrm>
            <a:off x="8007858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7.36</a:t>
            </a:r>
          </a:p>
        </p:txBody>
      </p:sp>
      <p:sp>
        <p:nvSpPr>
          <p:cNvPr id="78" name="cell"/>
          <p:cNvSpPr/>
          <p:nvPr/>
        </p:nvSpPr>
        <p:spPr>
          <a:xfrm>
            <a:off x="8851392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val"/>
          <p:cNvSpPr txBox="1"/>
          <p:nvPr/>
        </p:nvSpPr>
        <p:spPr>
          <a:xfrm>
            <a:off x="8869680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2.64</a:t>
            </a:r>
          </a:p>
        </p:txBody>
      </p:sp>
      <p:sp>
        <p:nvSpPr>
          <p:cNvPr id="80" name="cell"/>
          <p:cNvSpPr/>
          <p:nvPr/>
        </p:nvSpPr>
        <p:spPr>
          <a:xfrm>
            <a:off x="9713214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val"/>
          <p:cNvSpPr txBox="1"/>
          <p:nvPr/>
        </p:nvSpPr>
        <p:spPr>
          <a:xfrm>
            <a:off x="9731502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3.84</a:t>
            </a:r>
          </a:p>
        </p:txBody>
      </p:sp>
      <p:sp>
        <p:nvSpPr>
          <p:cNvPr id="82" name="cell"/>
          <p:cNvSpPr/>
          <p:nvPr/>
        </p:nvSpPr>
        <p:spPr>
          <a:xfrm>
            <a:off x="10575036" y="2212848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val"/>
          <p:cNvSpPr txBox="1"/>
          <p:nvPr/>
        </p:nvSpPr>
        <p:spPr>
          <a:xfrm>
            <a:off x="10593324" y="231343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2.08</a:t>
            </a:r>
          </a:p>
        </p:txBody>
      </p:sp>
      <p:sp>
        <p:nvSpPr>
          <p:cNvPr id="84" name="cell"/>
          <p:cNvSpPr/>
          <p:nvPr/>
        </p:nvSpPr>
        <p:spPr>
          <a:xfrm>
            <a:off x="384048" y="2642615"/>
            <a:ext cx="1572768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wname"/>
          <p:cNvSpPr txBox="1"/>
          <p:nvPr/>
        </p:nvSpPr>
        <p:spPr>
          <a:xfrm>
            <a:off x="475488" y="2743199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E6E9EC"/>
                </a:solidFill>
                <a:latin typeface="Calibri"/>
              </a:rPr>
              <a:t>Last turn only</a:t>
            </a:r>
          </a:p>
        </p:txBody>
      </p:sp>
      <p:sp>
        <p:nvSpPr>
          <p:cNvPr id="86" name="cell"/>
          <p:cNvSpPr/>
          <p:nvPr/>
        </p:nvSpPr>
        <p:spPr>
          <a:xfrm>
            <a:off x="1956816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val"/>
          <p:cNvSpPr txBox="1"/>
          <p:nvPr/>
        </p:nvSpPr>
        <p:spPr>
          <a:xfrm>
            <a:off x="1975104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3.17</a:t>
            </a:r>
          </a:p>
        </p:txBody>
      </p:sp>
      <p:sp>
        <p:nvSpPr>
          <p:cNvPr id="88" name="cell"/>
          <p:cNvSpPr/>
          <p:nvPr/>
        </p:nvSpPr>
        <p:spPr>
          <a:xfrm>
            <a:off x="2818638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val"/>
          <p:cNvSpPr txBox="1"/>
          <p:nvPr/>
        </p:nvSpPr>
        <p:spPr>
          <a:xfrm>
            <a:off x="2836926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1.86</a:t>
            </a:r>
          </a:p>
        </p:txBody>
      </p:sp>
      <p:sp>
        <p:nvSpPr>
          <p:cNvPr id="90" name="cell"/>
          <p:cNvSpPr/>
          <p:nvPr/>
        </p:nvSpPr>
        <p:spPr>
          <a:xfrm>
            <a:off x="3680460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val"/>
          <p:cNvSpPr txBox="1"/>
          <p:nvPr/>
        </p:nvSpPr>
        <p:spPr>
          <a:xfrm>
            <a:off x="3698748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0.966</a:t>
            </a:r>
          </a:p>
        </p:txBody>
      </p:sp>
      <p:sp>
        <p:nvSpPr>
          <p:cNvPr id="92" name="cell"/>
          <p:cNvSpPr/>
          <p:nvPr/>
        </p:nvSpPr>
        <p:spPr>
          <a:xfrm>
            <a:off x="4542282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val"/>
          <p:cNvSpPr txBox="1"/>
          <p:nvPr/>
        </p:nvSpPr>
        <p:spPr>
          <a:xfrm>
            <a:off x="4560570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4.67</a:t>
            </a:r>
          </a:p>
        </p:txBody>
      </p:sp>
      <p:sp>
        <p:nvSpPr>
          <p:cNvPr id="94" name="cell"/>
          <p:cNvSpPr/>
          <p:nvPr/>
        </p:nvSpPr>
        <p:spPr>
          <a:xfrm>
            <a:off x="5404104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val"/>
          <p:cNvSpPr txBox="1"/>
          <p:nvPr/>
        </p:nvSpPr>
        <p:spPr>
          <a:xfrm>
            <a:off x="5422392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4.74</a:t>
            </a:r>
          </a:p>
        </p:txBody>
      </p:sp>
      <p:sp>
        <p:nvSpPr>
          <p:cNvPr id="96" name="cell"/>
          <p:cNvSpPr/>
          <p:nvPr/>
        </p:nvSpPr>
        <p:spPr>
          <a:xfrm>
            <a:off x="6265926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val"/>
          <p:cNvSpPr txBox="1"/>
          <p:nvPr/>
        </p:nvSpPr>
        <p:spPr>
          <a:xfrm>
            <a:off x="6284214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6.89</a:t>
            </a:r>
          </a:p>
        </p:txBody>
      </p:sp>
      <p:sp>
        <p:nvSpPr>
          <p:cNvPr id="98" name="cell"/>
          <p:cNvSpPr/>
          <p:nvPr/>
        </p:nvSpPr>
        <p:spPr>
          <a:xfrm>
            <a:off x="7127748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val"/>
          <p:cNvSpPr txBox="1"/>
          <p:nvPr/>
        </p:nvSpPr>
        <p:spPr>
          <a:xfrm>
            <a:off x="7146036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2.64</a:t>
            </a:r>
          </a:p>
        </p:txBody>
      </p:sp>
      <p:sp>
        <p:nvSpPr>
          <p:cNvPr id="100" name="cell"/>
          <p:cNvSpPr/>
          <p:nvPr/>
        </p:nvSpPr>
        <p:spPr>
          <a:xfrm>
            <a:off x="7989570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val"/>
          <p:cNvSpPr txBox="1"/>
          <p:nvPr/>
        </p:nvSpPr>
        <p:spPr>
          <a:xfrm>
            <a:off x="8007858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6.86</a:t>
            </a:r>
          </a:p>
        </p:txBody>
      </p:sp>
      <p:sp>
        <p:nvSpPr>
          <p:cNvPr id="102" name="cell"/>
          <p:cNvSpPr/>
          <p:nvPr/>
        </p:nvSpPr>
        <p:spPr>
          <a:xfrm>
            <a:off x="8851392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val"/>
          <p:cNvSpPr txBox="1"/>
          <p:nvPr/>
        </p:nvSpPr>
        <p:spPr>
          <a:xfrm>
            <a:off x="8869680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0.960</a:t>
            </a:r>
          </a:p>
        </p:txBody>
      </p:sp>
      <p:sp>
        <p:nvSpPr>
          <p:cNvPr id="104" name="cell"/>
          <p:cNvSpPr/>
          <p:nvPr/>
        </p:nvSpPr>
        <p:spPr>
          <a:xfrm>
            <a:off x="9713214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val"/>
          <p:cNvSpPr txBox="1"/>
          <p:nvPr/>
        </p:nvSpPr>
        <p:spPr>
          <a:xfrm>
            <a:off x="9731502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2.75</a:t>
            </a:r>
          </a:p>
        </p:txBody>
      </p:sp>
      <p:sp>
        <p:nvSpPr>
          <p:cNvPr id="106" name="cell"/>
          <p:cNvSpPr/>
          <p:nvPr/>
        </p:nvSpPr>
        <p:spPr>
          <a:xfrm>
            <a:off x="10575036" y="2642615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val"/>
          <p:cNvSpPr txBox="1"/>
          <p:nvPr/>
        </p:nvSpPr>
        <p:spPr>
          <a:xfrm>
            <a:off x="10593324" y="2743199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1.00</a:t>
            </a:r>
          </a:p>
        </p:txBody>
      </p:sp>
      <p:sp>
        <p:nvSpPr>
          <p:cNvPr id="108" name="cell"/>
          <p:cNvSpPr/>
          <p:nvPr/>
        </p:nvSpPr>
        <p:spPr>
          <a:xfrm>
            <a:off x="384048" y="3072384"/>
            <a:ext cx="1572768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wname"/>
          <p:cNvSpPr txBox="1"/>
          <p:nvPr/>
        </p:nvSpPr>
        <p:spPr>
          <a:xfrm>
            <a:off x="475488" y="3172968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E6E9EC"/>
                </a:solidFill>
                <a:latin typeface="Calibri"/>
              </a:rPr>
              <a:t>History, no action</a:t>
            </a:r>
          </a:p>
        </p:txBody>
      </p:sp>
      <p:sp>
        <p:nvSpPr>
          <p:cNvPr id="110" name="cell"/>
          <p:cNvSpPr/>
          <p:nvPr/>
        </p:nvSpPr>
        <p:spPr>
          <a:xfrm>
            <a:off x="1956816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val"/>
          <p:cNvSpPr txBox="1"/>
          <p:nvPr/>
        </p:nvSpPr>
        <p:spPr>
          <a:xfrm>
            <a:off x="1975104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0.899</a:t>
            </a:r>
          </a:p>
        </p:txBody>
      </p:sp>
      <p:sp>
        <p:nvSpPr>
          <p:cNvPr id="112" name="cell"/>
          <p:cNvSpPr/>
          <p:nvPr/>
        </p:nvSpPr>
        <p:spPr>
          <a:xfrm>
            <a:off x="2818638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val"/>
          <p:cNvSpPr txBox="1"/>
          <p:nvPr/>
        </p:nvSpPr>
        <p:spPr>
          <a:xfrm>
            <a:off x="2836926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0.674</a:t>
            </a:r>
          </a:p>
        </p:txBody>
      </p:sp>
      <p:sp>
        <p:nvSpPr>
          <p:cNvPr id="114" name="cell"/>
          <p:cNvSpPr/>
          <p:nvPr/>
        </p:nvSpPr>
        <p:spPr>
          <a:xfrm>
            <a:off x="3680460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val"/>
          <p:cNvSpPr txBox="1"/>
          <p:nvPr/>
        </p:nvSpPr>
        <p:spPr>
          <a:xfrm>
            <a:off x="3698748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0.615</a:t>
            </a:r>
          </a:p>
        </p:txBody>
      </p:sp>
      <p:sp>
        <p:nvSpPr>
          <p:cNvPr id="116" name="cell"/>
          <p:cNvSpPr/>
          <p:nvPr/>
        </p:nvSpPr>
        <p:spPr>
          <a:xfrm>
            <a:off x="4542282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val"/>
          <p:cNvSpPr txBox="1"/>
          <p:nvPr/>
        </p:nvSpPr>
        <p:spPr>
          <a:xfrm>
            <a:off x="4560570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3.43</a:t>
            </a:r>
          </a:p>
        </p:txBody>
      </p:sp>
      <p:sp>
        <p:nvSpPr>
          <p:cNvPr id="118" name="cell"/>
          <p:cNvSpPr/>
          <p:nvPr/>
        </p:nvSpPr>
        <p:spPr>
          <a:xfrm>
            <a:off x="5404104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val"/>
          <p:cNvSpPr txBox="1"/>
          <p:nvPr/>
        </p:nvSpPr>
        <p:spPr>
          <a:xfrm>
            <a:off x="5422392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5.20</a:t>
            </a:r>
          </a:p>
        </p:txBody>
      </p:sp>
      <p:sp>
        <p:nvSpPr>
          <p:cNvPr id="120" name="cell"/>
          <p:cNvSpPr/>
          <p:nvPr/>
        </p:nvSpPr>
        <p:spPr>
          <a:xfrm>
            <a:off x="6265926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val"/>
          <p:cNvSpPr txBox="1"/>
          <p:nvPr/>
        </p:nvSpPr>
        <p:spPr>
          <a:xfrm>
            <a:off x="6284214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4.47</a:t>
            </a:r>
          </a:p>
        </p:txBody>
      </p:sp>
      <p:sp>
        <p:nvSpPr>
          <p:cNvPr id="122" name="cell"/>
          <p:cNvSpPr/>
          <p:nvPr/>
        </p:nvSpPr>
        <p:spPr>
          <a:xfrm>
            <a:off x="7127748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val"/>
          <p:cNvSpPr txBox="1"/>
          <p:nvPr/>
        </p:nvSpPr>
        <p:spPr>
          <a:xfrm>
            <a:off x="7146036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4.35</a:t>
            </a:r>
          </a:p>
        </p:txBody>
      </p:sp>
      <p:sp>
        <p:nvSpPr>
          <p:cNvPr id="124" name="cell"/>
          <p:cNvSpPr/>
          <p:nvPr/>
        </p:nvSpPr>
        <p:spPr>
          <a:xfrm>
            <a:off x="7989570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val"/>
          <p:cNvSpPr txBox="1"/>
          <p:nvPr/>
        </p:nvSpPr>
        <p:spPr>
          <a:xfrm>
            <a:off x="8007858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7.19</a:t>
            </a:r>
          </a:p>
        </p:txBody>
      </p:sp>
      <p:sp>
        <p:nvSpPr>
          <p:cNvPr id="126" name="cell"/>
          <p:cNvSpPr/>
          <p:nvPr/>
        </p:nvSpPr>
        <p:spPr>
          <a:xfrm>
            <a:off x="8851392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val"/>
          <p:cNvSpPr txBox="1"/>
          <p:nvPr/>
        </p:nvSpPr>
        <p:spPr>
          <a:xfrm>
            <a:off x="8869680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3.13</a:t>
            </a:r>
          </a:p>
        </p:txBody>
      </p:sp>
      <p:sp>
        <p:nvSpPr>
          <p:cNvPr id="128" name="cell"/>
          <p:cNvSpPr/>
          <p:nvPr/>
        </p:nvSpPr>
        <p:spPr>
          <a:xfrm>
            <a:off x="9713214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val"/>
          <p:cNvSpPr txBox="1"/>
          <p:nvPr/>
        </p:nvSpPr>
        <p:spPr>
          <a:xfrm>
            <a:off x="9731502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1.85</a:t>
            </a:r>
          </a:p>
        </p:txBody>
      </p:sp>
      <p:sp>
        <p:nvSpPr>
          <p:cNvPr id="130" name="cell"/>
          <p:cNvSpPr/>
          <p:nvPr/>
        </p:nvSpPr>
        <p:spPr>
          <a:xfrm>
            <a:off x="10575036" y="3072384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val"/>
          <p:cNvSpPr txBox="1"/>
          <p:nvPr/>
        </p:nvSpPr>
        <p:spPr>
          <a:xfrm>
            <a:off x="10593324" y="3172968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0.912</a:t>
            </a:r>
          </a:p>
        </p:txBody>
      </p:sp>
      <p:sp>
        <p:nvSpPr>
          <p:cNvPr id="132" name="cell"/>
          <p:cNvSpPr/>
          <p:nvPr/>
        </p:nvSpPr>
        <p:spPr>
          <a:xfrm>
            <a:off x="384048" y="3502152"/>
            <a:ext cx="1572768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wname"/>
          <p:cNvSpPr txBox="1"/>
          <p:nvPr/>
        </p:nvSpPr>
        <p:spPr>
          <a:xfrm>
            <a:off x="475488" y="3602736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E6E9EC"/>
                </a:solidFill>
                <a:latin typeface="Calibri"/>
              </a:rPr>
              <a:t>LSTM</a:t>
            </a:r>
          </a:p>
        </p:txBody>
      </p:sp>
      <p:sp>
        <p:nvSpPr>
          <p:cNvPr id="134" name="cell"/>
          <p:cNvSpPr/>
          <p:nvPr/>
        </p:nvSpPr>
        <p:spPr>
          <a:xfrm>
            <a:off x="1956816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val"/>
          <p:cNvSpPr txBox="1"/>
          <p:nvPr/>
        </p:nvSpPr>
        <p:spPr>
          <a:xfrm>
            <a:off x="1975104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0.951</a:t>
            </a:r>
          </a:p>
        </p:txBody>
      </p:sp>
      <p:sp>
        <p:nvSpPr>
          <p:cNvPr id="136" name="cell"/>
          <p:cNvSpPr/>
          <p:nvPr/>
        </p:nvSpPr>
        <p:spPr>
          <a:xfrm>
            <a:off x="2818638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val"/>
          <p:cNvSpPr txBox="1"/>
          <p:nvPr/>
        </p:nvSpPr>
        <p:spPr>
          <a:xfrm>
            <a:off x="2836926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0.736</a:t>
            </a:r>
          </a:p>
        </p:txBody>
      </p:sp>
      <p:sp>
        <p:nvSpPr>
          <p:cNvPr id="138" name="cell"/>
          <p:cNvSpPr/>
          <p:nvPr/>
        </p:nvSpPr>
        <p:spPr>
          <a:xfrm>
            <a:off x="3680460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val"/>
          <p:cNvSpPr txBox="1"/>
          <p:nvPr/>
        </p:nvSpPr>
        <p:spPr>
          <a:xfrm>
            <a:off x="3698748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0.585</a:t>
            </a:r>
          </a:p>
        </p:txBody>
      </p:sp>
      <p:sp>
        <p:nvSpPr>
          <p:cNvPr id="140" name="cell"/>
          <p:cNvSpPr/>
          <p:nvPr/>
        </p:nvSpPr>
        <p:spPr>
          <a:xfrm>
            <a:off x="4542282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val"/>
          <p:cNvSpPr txBox="1"/>
          <p:nvPr/>
        </p:nvSpPr>
        <p:spPr>
          <a:xfrm>
            <a:off x="4560570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3.38</a:t>
            </a:r>
          </a:p>
        </p:txBody>
      </p:sp>
      <p:sp>
        <p:nvSpPr>
          <p:cNvPr id="142" name="cell"/>
          <p:cNvSpPr/>
          <p:nvPr/>
        </p:nvSpPr>
        <p:spPr>
          <a:xfrm>
            <a:off x="5404104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val"/>
          <p:cNvSpPr txBox="1"/>
          <p:nvPr/>
        </p:nvSpPr>
        <p:spPr>
          <a:xfrm>
            <a:off x="5422392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5.07</a:t>
            </a:r>
          </a:p>
        </p:txBody>
      </p:sp>
      <p:sp>
        <p:nvSpPr>
          <p:cNvPr id="144" name="cell"/>
          <p:cNvSpPr/>
          <p:nvPr/>
        </p:nvSpPr>
        <p:spPr>
          <a:xfrm>
            <a:off x="6265926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val"/>
          <p:cNvSpPr txBox="1"/>
          <p:nvPr/>
        </p:nvSpPr>
        <p:spPr>
          <a:xfrm>
            <a:off x="6284214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5.49</a:t>
            </a:r>
          </a:p>
        </p:txBody>
      </p:sp>
      <p:sp>
        <p:nvSpPr>
          <p:cNvPr id="146" name="cell"/>
          <p:cNvSpPr/>
          <p:nvPr/>
        </p:nvSpPr>
        <p:spPr>
          <a:xfrm>
            <a:off x="7127748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val"/>
          <p:cNvSpPr txBox="1"/>
          <p:nvPr/>
        </p:nvSpPr>
        <p:spPr>
          <a:xfrm>
            <a:off x="7146036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2.78</a:t>
            </a:r>
          </a:p>
        </p:txBody>
      </p:sp>
      <p:sp>
        <p:nvSpPr>
          <p:cNvPr id="148" name="cell"/>
          <p:cNvSpPr/>
          <p:nvPr/>
        </p:nvSpPr>
        <p:spPr>
          <a:xfrm>
            <a:off x="7989570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val"/>
          <p:cNvSpPr txBox="1"/>
          <p:nvPr/>
        </p:nvSpPr>
        <p:spPr>
          <a:xfrm>
            <a:off x="8007858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7.76</a:t>
            </a:r>
          </a:p>
        </p:txBody>
      </p:sp>
      <p:sp>
        <p:nvSpPr>
          <p:cNvPr id="150" name="cell"/>
          <p:cNvSpPr/>
          <p:nvPr/>
        </p:nvSpPr>
        <p:spPr>
          <a:xfrm>
            <a:off x="8851392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val"/>
          <p:cNvSpPr txBox="1"/>
          <p:nvPr/>
        </p:nvSpPr>
        <p:spPr>
          <a:xfrm>
            <a:off x="8869680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4.74</a:t>
            </a:r>
          </a:p>
        </p:txBody>
      </p:sp>
      <p:sp>
        <p:nvSpPr>
          <p:cNvPr id="152" name="cell"/>
          <p:cNvSpPr/>
          <p:nvPr/>
        </p:nvSpPr>
        <p:spPr>
          <a:xfrm>
            <a:off x="9713214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val"/>
          <p:cNvSpPr txBox="1"/>
          <p:nvPr/>
        </p:nvSpPr>
        <p:spPr>
          <a:xfrm>
            <a:off x="9731502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1.75</a:t>
            </a:r>
          </a:p>
        </p:txBody>
      </p:sp>
      <p:sp>
        <p:nvSpPr>
          <p:cNvPr id="154" name="cell"/>
          <p:cNvSpPr/>
          <p:nvPr/>
        </p:nvSpPr>
        <p:spPr>
          <a:xfrm>
            <a:off x="10575036" y="3502152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val"/>
          <p:cNvSpPr txBox="1"/>
          <p:nvPr/>
        </p:nvSpPr>
        <p:spPr>
          <a:xfrm>
            <a:off x="10593324" y="3602736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2.29</a:t>
            </a:r>
          </a:p>
        </p:txBody>
      </p:sp>
      <p:sp>
        <p:nvSpPr>
          <p:cNvPr id="156" name="cell"/>
          <p:cNvSpPr/>
          <p:nvPr/>
        </p:nvSpPr>
        <p:spPr>
          <a:xfrm>
            <a:off x="384048" y="3931920"/>
            <a:ext cx="1572768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wname"/>
          <p:cNvSpPr txBox="1"/>
          <p:nvPr/>
        </p:nvSpPr>
        <p:spPr>
          <a:xfrm>
            <a:off x="475488" y="4032504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E6E9EC"/>
                </a:solidFill>
                <a:latin typeface="Calibri"/>
              </a:rPr>
              <a:t>Nonlinear version</a:t>
            </a:r>
          </a:p>
        </p:txBody>
      </p:sp>
      <p:sp>
        <p:nvSpPr>
          <p:cNvPr id="158" name="cell"/>
          <p:cNvSpPr/>
          <p:nvPr/>
        </p:nvSpPr>
        <p:spPr>
          <a:xfrm>
            <a:off x="1956816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val"/>
          <p:cNvSpPr txBox="1"/>
          <p:nvPr/>
        </p:nvSpPr>
        <p:spPr>
          <a:xfrm>
            <a:off x="1975104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0.944</a:t>
            </a:r>
          </a:p>
        </p:txBody>
      </p:sp>
      <p:sp>
        <p:nvSpPr>
          <p:cNvPr id="160" name="cell"/>
          <p:cNvSpPr/>
          <p:nvPr/>
        </p:nvSpPr>
        <p:spPr>
          <a:xfrm>
            <a:off x="2818638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val"/>
          <p:cNvSpPr txBox="1"/>
          <p:nvPr/>
        </p:nvSpPr>
        <p:spPr>
          <a:xfrm>
            <a:off x="2836926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0.686</a:t>
            </a:r>
          </a:p>
        </p:txBody>
      </p:sp>
      <p:sp>
        <p:nvSpPr>
          <p:cNvPr id="162" name="cell"/>
          <p:cNvSpPr/>
          <p:nvPr/>
        </p:nvSpPr>
        <p:spPr>
          <a:xfrm>
            <a:off x="3680460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val"/>
          <p:cNvSpPr txBox="1"/>
          <p:nvPr/>
        </p:nvSpPr>
        <p:spPr>
          <a:xfrm>
            <a:off x="3698748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0.596</a:t>
            </a:r>
          </a:p>
        </p:txBody>
      </p:sp>
      <p:sp>
        <p:nvSpPr>
          <p:cNvPr id="164" name="cell"/>
          <p:cNvSpPr/>
          <p:nvPr/>
        </p:nvSpPr>
        <p:spPr>
          <a:xfrm>
            <a:off x="4542282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val"/>
          <p:cNvSpPr txBox="1"/>
          <p:nvPr/>
        </p:nvSpPr>
        <p:spPr>
          <a:xfrm>
            <a:off x="4560570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3.68</a:t>
            </a:r>
          </a:p>
        </p:txBody>
      </p:sp>
      <p:sp>
        <p:nvSpPr>
          <p:cNvPr id="166" name="cell"/>
          <p:cNvSpPr/>
          <p:nvPr/>
        </p:nvSpPr>
        <p:spPr>
          <a:xfrm>
            <a:off x="5404104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val"/>
          <p:cNvSpPr txBox="1"/>
          <p:nvPr/>
        </p:nvSpPr>
        <p:spPr>
          <a:xfrm>
            <a:off x="5422392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4.97</a:t>
            </a:r>
          </a:p>
        </p:txBody>
      </p:sp>
      <p:sp>
        <p:nvSpPr>
          <p:cNvPr id="168" name="cell"/>
          <p:cNvSpPr/>
          <p:nvPr/>
        </p:nvSpPr>
        <p:spPr>
          <a:xfrm>
            <a:off x="6265926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val"/>
          <p:cNvSpPr txBox="1"/>
          <p:nvPr/>
        </p:nvSpPr>
        <p:spPr>
          <a:xfrm>
            <a:off x="6284214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5.75</a:t>
            </a:r>
          </a:p>
        </p:txBody>
      </p:sp>
      <p:sp>
        <p:nvSpPr>
          <p:cNvPr id="170" name="cell"/>
          <p:cNvSpPr/>
          <p:nvPr/>
        </p:nvSpPr>
        <p:spPr>
          <a:xfrm>
            <a:off x="7127748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val"/>
          <p:cNvSpPr txBox="1"/>
          <p:nvPr/>
        </p:nvSpPr>
        <p:spPr>
          <a:xfrm>
            <a:off x="7146036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3.63</a:t>
            </a:r>
          </a:p>
        </p:txBody>
      </p:sp>
      <p:sp>
        <p:nvSpPr>
          <p:cNvPr id="172" name="cell"/>
          <p:cNvSpPr/>
          <p:nvPr/>
        </p:nvSpPr>
        <p:spPr>
          <a:xfrm>
            <a:off x="7989570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val"/>
          <p:cNvSpPr txBox="1"/>
          <p:nvPr/>
        </p:nvSpPr>
        <p:spPr>
          <a:xfrm>
            <a:off x="8007858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7.21</a:t>
            </a:r>
          </a:p>
        </p:txBody>
      </p:sp>
      <p:sp>
        <p:nvSpPr>
          <p:cNvPr id="174" name="cell"/>
          <p:cNvSpPr/>
          <p:nvPr/>
        </p:nvSpPr>
        <p:spPr>
          <a:xfrm>
            <a:off x="8851392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val"/>
          <p:cNvSpPr txBox="1"/>
          <p:nvPr/>
        </p:nvSpPr>
        <p:spPr>
          <a:xfrm>
            <a:off x="8869680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2.99</a:t>
            </a:r>
          </a:p>
        </p:txBody>
      </p:sp>
      <p:sp>
        <p:nvSpPr>
          <p:cNvPr id="176" name="cell"/>
          <p:cNvSpPr/>
          <p:nvPr/>
        </p:nvSpPr>
        <p:spPr>
          <a:xfrm>
            <a:off x="9713214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val"/>
          <p:cNvSpPr txBox="1"/>
          <p:nvPr/>
        </p:nvSpPr>
        <p:spPr>
          <a:xfrm>
            <a:off x="9731502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2.03</a:t>
            </a:r>
          </a:p>
        </p:txBody>
      </p:sp>
      <p:sp>
        <p:nvSpPr>
          <p:cNvPr id="178" name="cell"/>
          <p:cNvSpPr/>
          <p:nvPr/>
        </p:nvSpPr>
        <p:spPr>
          <a:xfrm>
            <a:off x="10575036" y="3931920"/>
            <a:ext cx="861822" cy="429768"/>
          </a:xfrm>
          <a:prstGeom prst="rect">
            <a:avLst/>
          </a:prstGeom>
          <a:noFill/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val"/>
          <p:cNvSpPr txBox="1"/>
          <p:nvPr/>
        </p:nvSpPr>
        <p:spPr>
          <a:xfrm>
            <a:off x="10593324" y="4032504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2.14</a:t>
            </a:r>
          </a:p>
        </p:txBody>
      </p:sp>
      <p:sp>
        <p:nvSpPr>
          <p:cNvPr id="180" name="cell"/>
          <p:cNvSpPr/>
          <p:nvPr/>
        </p:nvSpPr>
        <p:spPr>
          <a:xfrm>
            <a:off x="384048" y="4361688"/>
            <a:ext cx="1572768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owname"/>
          <p:cNvSpPr txBox="1"/>
          <p:nvPr/>
        </p:nvSpPr>
        <p:spPr>
          <a:xfrm>
            <a:off x="475488" y="446227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6E9EC"/>
                </a:solidFill>
                <a:latin typeface="Calibri"/>
              </a:rPr>
              <a:t>Ours</a:t>
            </a:r>
          </a:p>
        </p:txBody>
      </p:sp>
      <p:sp>
        <p:nvSpPr>
          <p:cNvPr id="182" name="cell"/>
          <p:cNvSpPr/>
          <p:nvPr/>
        </p:nvSpPr>
        <p:spPr>
          <a:xfrm>
            <a:off x="1956816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val"/>
          <p:cNvSpPr txBox="1"/>
          <p:nvPr/>
        </p:nvSpPr>
        <p:spPr>
          <a:xfrm>
            <a:off x="1975104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dirty="0">
                <a:solidFill>
                  <a:srgbClr val="E6E9EC"/>
                </a:solidFill>
                <a:latin typeface="Calibri"/>
              </a:rPr>
              <a:t>0.880</a:t>
            </a:r>
          </a:p>
        </p:txBody>
      </p:sp>
      <p:sp>
        <p:nvSpPr>
          <p:cNvPr id="184" name="cell"/>
          <p:cNvSpPr/>
          <p:nvPr/>
        </p:nvSpPr>
        <p:spPr>
          <a:xfrm>
            <a:off x="2818638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val"/>
          <p:cNvSpPr txBox="1"/>
          <p:nvPr/>
        </p:nvSpPr>
        <p:spPr>
          <a:xfrm>
            <a:off x="2836926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0.668</a:t>
            </a:r>
          </a:p>
        </p:txBody>
      </p:sp>
      <p:sp>
        <p:nvSpPr>
          <p:cNvPr id="186" name="cell"/>
          <p:cNvSpPr/>
          <p:nvPr/>
        </p:nvSpPr>
        <p:spPr>
          <a:xfrm>
            <a:off x="3680460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val"/>
          <p:cNvSpPr txBox="1"/>
          <p:nvPr/>
        </p:nvSpPr>
        <p:spPr>
          <a:xfrm>
            <a:off x="3698748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0.574</a:t>
            </a:r>
          </a:p>
        </p:txBody>
      </p:sp>
      <p:sp>
        <p:nvSpPr>
          <p:cNvPr id="188" name="cell"/>
          <p:cNvSpPr/>
          <p:nvPr/>
        </p:nvSpPr>
        <p:spPr>
          <a:xfrm>
            <a:off x="4542282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val"/>
          <p:cNvSpPr txBox="1"/>
          <p:nvPr/>
        </p:nvSpPr>
        <p:spPr>
          <a:xfrm>
            <a:off x="4560570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3.53</a:t>
            </a:r>
          </a:p>
        </p:txBody>
      </p:sp>
      <p:sp>
        <p:nvSpPr>
          <p:cNvPr id="190" name="cell"/>
          <p:cNvSpPr/>
          <p:nvPr/>
        </p:nvSpPr>
        <p:spPr>
          <a:xfrm>
            <a:off x="5404104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val"/>
          <p:cNvSpPr txBox="1"/>
          <p:nvPr/>
        </p:nvSpPr>
        <p:spPr>
          <a:xfrm>
            <a:off x="5422392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5.02</a:t>
            </a:r>
          </a:p>
        </p:txBody>
      </p:sp>
      <p:sp>
        <p:nvSpPr>
          <p:cNvPr id="192" name="cell"/>
          <p:cNvSpPr/>
          <p:nvPr/>
        </p:nvSpPr>
        <p:spPr>
          <a:xfrm>
            <a:off x="6265926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val"/>
          <p:cNvSpPr txBox="1"/>
          <p:nvPr/>
        </p:nvSpPr>
        <p:spPr>
          <a:xfrm>
            <a:off x="6284214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4.79</a:t>
            </a:r>
          </a:p>
        </p:txBody>
      </p:sp>
      <p:sp>
        <p:nvSpPr>
          <p:cNvPr id="194" name="cell"/>
          <p:cNvSpPr/>
          <p:nvPr/>
        </p:nvSpPr>
        <p:spPr>
          <a:xfrm>
            <a:off x="7127748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val"/>
          <p:cNvSpPr txBox="1"/>
          <p:nvPr/>
        </p:nvSpPr>
        <p:spPr>
          <a:xfrm>
            <a:off x="7146036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3.70</a:t>
            </a:r>
          </a:p>
        </p:txBody>
      </p:sp>
      <p:sp>
        <p:nvSpPr>
          <p:cNvPr id="196" name="cell"/>
          <p:cNvSpPr/>
          <p:nvPr/>
        </p:nvSpPr>
        <p:spPr>
          <a:xfrm>
            <a:off x="7989570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val"/>
          <p:cNvSpPr txBox="1"/>
          <p:nvPr/>
        </p:nvSpPr>
        <p:spPr>
          <a:xfrm>
            <a:off x="8007858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7.10</a:t>
            </a:r>
          </a:p>
        </p:txBody>
      </p:sp>
      <p:sp>
        <p:nvSpPr>
          <p:cNvPr id="198" name="cell"/>
          <p:cNvSpPr/>
          <p:nvPr/>
        </p:nvSpPr>
        <p:spPr>
          <a:xfrm>
            <a:off x="8851392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val"/>
          <p:cNvSpPr txBox="1"/>
          <p:nvPr/>
        </p:nvSpPr>
        <p:spPr>
          <a:xfrm>
            <a:off x="8869680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2.98</a:t>
            </a:r>
          </a:p>
        </p:txBody>
      </p:sp>
      <p:sp>
        <p:nvSpPr>
          <p:cNvPr id="200" name="cell"/>
          <p:cNvSpPr/>
          <p:nvPr/>
        </p:nvSpPr>
        <p:spPr>
          <a:xfrm>
            <a:off x="9713214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val"/>
          <p:cNvSpPr txBox="1"/>
          <p:nvPr/>
        </p:nvSpPr>
        <p:spPr>
          <a:xfrm>
            <a:off x="9731502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u="sng">
                <a:solidFill>
                  <a:srgbClr val="E6E9EC"/>
                </a:solidFill>
                <a:latin typeface="Calibri"/>
              </a:rPr>
              <a:t>1.85</a:t>
            </a:r>
          </a:p>
        </p:txBody>
      </p:sp>
      <p:sp>
        <p:nvSpPr>
          <p:cNvPr id="202" name="cell"/>
          <p:cNvSpPr/>
          <p:nvPr/>
        </p:nvSpPr>
        <p:spPr>
          <a:xfrm>
            <a:off x="10575036" y="4361688"/>
            <a:ext cx="861822" cy="429768"/>
          </a:xfrm>
          <a:prstGeom prst="rect">
            <a:avLst/>
          </a:prstGeom>
          <a:solidFill>
            <a:srgbClr val="1E242A"/>
          </a:solidFill>
          <a:ln w="6350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val"/>
          <p:cNvSpPr txBox="1"/>
          <p:nvPr/>
        </p:nvSpPr>
        <p:spPr>
          <a:xfrm>
            <a:off x="10593324" y="4462272"/>
            <a:ext cx="8252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0.899</a:t>
            </a:r>
          </a:p>
        </p:txBody>
      </p:sp>
      <p:pic>
        <p:nvPicPr>
          <p:cNvPr id="204" name="eq" descr="state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93" y="4956048"/>
            <a:ext cx="2923749" cy="420624"/>
          </a:xfrm>
          <a:prstGeom prst="rect">
            <a:avLst/>
          </a:prstGeom>
        </p:spPr>
      </p:pic>
      <p:sp>
        <p:nvSpPr>
          <p:cNvPr id="205" name="p3_eq_zh"/>
          <p:cNvSpPr txBox="1"/>
          <p:nvPr/>
        </p:nvSpPr>
        <p:spPr>
          <a:xfrm>
            <a:off x="3886200" y="4974336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6E9EC"/>
                </a:solidFill>
                <a:latin typeface="Calibri"/>
              </a:rPr>
              <a:t>Next state = part of the past scores carried over (K) + a push from this turn's action (B) + a constant.</a:t>
            </a:r>
          </a:p>
        </p:txBody>
      </p:sp>
      <p:sp>
        <p:nvSpPr>
          <p:cNvPr id="206" name="p3_def"/>
          <p:cNvSpPr txBox="1"/>
          <p:nvPr/>
        </p:nvSpPr>
        <p:spPr>
          <a:xfrm>
            <a:off x="384048" y="5458968"/>
            <a:ext cx="5577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6E9EC"/>
                </a:solidFill>
                <a:latin typeface="Calibri"/>
              </a:rPr>
              <a:t>Page 5 plots how much of that guess's error is removed.</a:t>
            </a:r>
          </a:p>
        </p:txBody>
      </p:sp>
      <p:sp>
        <p:nvSpPr>
          <p:cNvPr id="207" name="p3_rank"/>
          <p:cNvSpPr txBox="1"/>
          <p:nvPr/>
        </p:nvSpPr>
        <p:spPr>
          <a:xfrm>
            <a:off x="5897880" y="5458968"/>
            <a:ext cx="58247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9EC"/>
                </a:solidFill>
                <a:latin typeface="Calibri"/>
              </a:rPr>
              <a:t>Bold</a:t>
            </a:r>
            <a:r>
              <a:rPr sz="1300" b="0">
                <a:solidFill>
                  <a:srgbClr val="E6E9EC"/>
                </a:solidFill>
                <a:latin typeface="Calibri"/>
              </a:rPr>
              <a:t> = smallest in column, </a:t>
            </a:r>
            <a:r>
              <a:rPr sz="1300" b="0" u="sng">
                <a:solidFill>
                  <a:srgbClr val="E6E9EC"/>
                </a:solidFill>
                <a:latin typeface="Calibri"/>
              </a:rPr>
              <a:t>underline</a:t>
            </a:r>
            <a:r>
              <a:rPr sz="1300" b="0">
                <a:solidFill>
                  <a:srgbClr val="E6E9EC"/>
                </a:solidFill>
                <a:latin typeface="Calibri"/>
              </a:rPr>
              <a:t> = second; Ours is smallest in 4 of 11, second in 3.</a:t>
            </a:r>
          </a:p>
        </p:txBody>
      </p:sp>
      <p:sp>
        <p:nvSpPr>
          <p:cNvPr id="208" name="footnote"/>
          <p:cNvSpPr txBox="1"/>
          <p:nvPr/>
        </p:nvSpPr>
        <p:spPr>
          <a:xfrm>
            <a:off x="502920" y="5943600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98A0A8"/>
                </a:solidFill>
                <a:latin typeface="Calibri"/>
              </a:rPr>
              <a:t>Rollout MSE over H steps, seeds averaged before scoring; reported on held-out folds disjoint from selection folds. H = 6 (t10) / 3 (t5) / 4 (behavioural). even_odd_t5 omitted (degenerate null). defense: judge = self, n_seed = 2; gsm8k_sharded: 64 eval rows, n_seed = 2.
Three reading rules: (1) each column is only compared with itself — the score units differ, so no cross-column mean, rank or best-of; (2) this table prints no intervals — the resampling is built on the relative quantity; (3) whether two rows differ is judged only by paired resampling, reported per column on page 5. Bold / underline are within-column ranks only, and are descriptive.</a:t>
            </a:r>
          </a:p>
        </p:txBody>
      </p:sp>
      <p:sp>
        <p:nvSpPr>
          <p:cNvPr id="209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74320"/>
            <a:ext cx="8915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6E9EC"/>
                </a:solidFill>
                <a:latin typeface="Calibri"/>
              </a:rPr>
              <a:t>Claim A: one turn of history is not enough — you need several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3268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8A0A8"/>
                </a:solidFill>
                <a:latin typeface="Calibri"/>
              </a:rPr>
              <a:t>Memory is measured to be necessary, not assumed</a:t>
            </a:r>
          </a:p>
        </p:txBody>
      </p:sp>
      <p:sp>
        <p:nvSpPr>
          <p:cNvPr id="5" name="rule"/>
          <p:cNvSpPr/>
          <p:nvPr/>
        </p:nvSpPr>
        <p:spPr>
          <a:xfrm>
            <a:off x="502920" y="1371600"/>
            <a:ext cx="11183112" cy="16459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etag"/>
          <p:cNvSpPr/>
          <p:nvPr/>
        </p:nvSpPr>
        <p:spPr>
          <a:xfrm>
            <a:off x="10934395" y="310896"/>
            <a:ext cx="754380" cy="420624"/>
          </a:xfrm>
          <a:prstGeom prst="roundRect">
            <a:avLst>
              <a:gd name="adj" fmla="val 28000"/>
            </a:avLst>
          </a:prstGeom>
          <a:solidFill>
            <a:srgbClr val="1E242A"/>
          </a:solidFill>
          <a:ln w="12700">
            <a:solidFill>
              <a:srgbClr val="5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tag_tx"/>
          <p:cNvSpPr txBox="1"/>
          <p:nvPr/>
        </p:nvSpPr>
        <p:spPr>
          <a:xfrm>
            <a:off x="10934395" y="411480"/>
            <a:ext cx="754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5FA8DC"/>
                </a:solidFill>
                <a:latin typeface="Calibri"/>
              </a:rPr>
              <a:t>Perception</a:t>
            </a:r>
          </a:p>
        </p:txBody>
      </p:sp>
      <p:pic>
        <p:nvPicPr>
          <p:cNvPr id="8" name="fig" descr="fig4_cla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07908"/>
            <a:ext cx="5623560" cy="3683431"/>
          </a:xfrm>
          <a:prstGeom prst="rect">
            <a:avLst/>
          </a:prstGeom>
        </p:spPr>
      </p:pic>
      <p:sp>
        <p:nvSpPr>
          <p:cNvPr id="9" name="card_purpose"/>
          <p:cNvSpPr/>
          <p:nvPr/>
        </p:nvSpPr>
        <p:spPr>
          <a:xfrm>
            <a:off x="6172200" y="1645920"/>
            <a:ext cx="5532120" cy="169164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_purpose_accent"/>
          <p:cNvSpPr/>
          <p:nvPr/>
        </p:nvSpPr>
        <p:spPr>
          <a:xfrm>
            <a:off x="6172200" y="1645920"/>
            <a:ext cx="50292" cy="1691640"/>
          </a:xfrm>
          <a:prstGeom prst="rect">
            <a:avLst/>
          </a:prstGeom>
          <a:solidFill>
            <a:srgbClr val="5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_purpose_tx"/>
          <p:cNvSpPr txBox="1"/>
          <p:nvPr/>
        </p:nvSpPr>
        <p:spPr>
          <a:xfrm>
            <a:off x="6446520" y="184708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FA8DC"/>
                </a:solidFill>
                <a:latin typeface="Calibri"/>
              </a:rPr>
              <a:t>Purpose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Ask whether predicting the next turn needs several turns of history.</a:t>
            </a:r>
          </a:p>
        </p:txBody>
      </p:sp>
      <p:sp>
        <p:nvSpPr>
          <p:cNvPr id="12" name="card_read"/>
          <p:cNvSpPr/>
          <p:nvPr/>
        </p:nvSpPr>
        <p:spPr>
          <a:xfrm>
            <a:off x="6172200" y="3474720"/>
            <a:ext cx="5532120" cy="169164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_read_accent"/>
          <p:cNvSpPr/>
          <p:nvPr/>
        </p:nvSpPr>
        <p:spPr>
          <a:xfrm>
            <a:off x="6172200" y="3474720"/>
            <a:ext cx="50292" cy="1691640"/>
          </a:xfrm>
          <a:prstGeom prst="rect">
            <a:avLst/>
          </a:prstGeom>
          <a:solidFill>
            <a:srgbClr val="F18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_read_tx"/>
          <p:cNvSpPr txBox="1"/>
          <p:nvPr/>
        </p:nvSpPr>
        <p:spPr>
          <a:xfrm>
            <a:off x="6446520" y="3675887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181B4"/>
                </a:solidFill>
                <a:latin typeface="Calibri"/>
              </a:rPr>
              <a:t>How to read it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The five green columns are better, and none of their bars touches the zero line.</a:t>
            </a:r>
          </a:p>
        </p:txBody>
      </p:sp>
      <p:sp>
        <p:nvSpPr>
          <p:cNvPr id="15" name="card_note"/>
          <p:cNvSpPr/>
          <p:nvPr/>
        </p:nvSpPr>
        <p:spPr>
          <a:xfrm>
            <a:off x="6172200" y="5303520"/>
            <a:ext cx="5532120" cy="86868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_note_accent"/>
          <p:cNvSpPr/>
          <p:nvPr/>
        </p:nvSpPr>
        <p:spPr>
          <a:xfrm>
            <a:off x="6172200" y="5303520"/>
            <a:ext cx="50292" cy="868680"/>
          </a:xfrm>
          <a:prstGeom prst="rect">
            <a:avLst/>
          </a:prstGeom>
          <a:solidFill>
            <a:srgbClr val="EFC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_note_tx"/>
          <p:cNvSpPr txBox="1"/>
          <p:nvPr/>
        </p:nvSpPr>
        <p:spPr>
          <a:xfrm>
            <a:off x="6446520" y="5468112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6E9EC"/>
                </a:solidFill>
                <a:latin typeface="Calibri"/>
              </a:rPr>
              <a:t>Two red crosses run the other way: on the two smallest columns, more history hurts.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5 / 7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502920" y="6272784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98A0A8"/>
                </a:solidFill>
                <a:latin typeface="Calibri"/>
              </a:rPr>
              <a:t>Paired bootstrap, 95% CI, default training-window convention. Under the matched-window convention: sentence_length_t10 +0.603→+0.109★, vector_count_stage2_t10 +0.312→+0.229★, character_length_t5 +0.235→−0.035★ (sign flip); constraint unchanged (+0.234→+0.231★). Grey = CI includes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74320"/>
            <a:ext cx="8915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6E9EC"/>
                </a:solidFill>
                <a:latin typeface="Calibri"/>
              </a:rPr>
              <a:t>Claim C: it moves the target, but only matches a fixed schedule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3268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8A0A8"/>
                </a:solidFill>
                <a:latin typeface="Calibri"/>
              </a:rPr>
              <a:t>“Re-timing” = issuing the same actions on different turns</a:t>
            </a:r>
          </a:p>
        </p:txBody>
      </p:sp>
      <p:sp>
        <p:nvSpPr>
          <p:cNvPr id="5" name="rule"/>
          <p:cNvSpPr/>
          <p:nvPr/>
        </p:nvSpPr>
        <p:spPr>
          <a:xfrm>
            <a:off x="502920" y="1371600"/>
            <a:ext cx="11183112" cy="16459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etag"/>
          <p:cNvSpPr/>
          <p:nvPr/>
        </p:nvSpPr>
        <p:spPr>
          <a:xfrm>
            <a:off x="10934395" y="310896"/>
            <a:ext cx="754380" cy="420624"/>
          </a:xfrm>
          <a:prstGeom prst="roundRect">
            <a:avLst>
              <a:gd name="adj" fmla="val 28000"/>
            </a:avLst>
          </a:prstGeom>
          <a:solidFill>
            <a:srgbClr val="1E242A"/>
          </a:solidFill>
          <a:ln w="12700">
            <a:solidFill>
              <a:srgbClr val="F18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tag_tx"/>
          <p:cNvSpPr txBox="1"/>
          <p:nvPr/>
        </p:nvSpPr>
        <p:spPr>
          <a:xfrm>
            <a:off x="10934395" y="411480"/>
            <a:ext cx="754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181B4"/>
                </a:solidFill>
                <a:latin typeface="Calibri"/>
              </a:rPr>
              <a:t>Control</a:t>
            </a:r>
          </a:p>
        </p:txBody>
      </p:sp>
      <p:pic>
        <p:nvPicPr>
          <p:cNvPr id="8" name="fig" descr="fig7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63" y="1494004"/>
            <a:ext cx="5623560" cy="4711239"/>
          </a:xfrm>
          <a:prstGeom prst="rect">
            <a:avLst/>
          </a:prstGeom>
        </p:spPr>
      </p:pic>
      <p:sp>
        <p:nvSpPr>
          <p:cNvPr id="9" name="card_purpose"/>
          <p:cNvSpPr/>
          <p:nvPr/>
        </p:nvSpPr>
        <p:spPr>
          <a:xfrm>
            <a:off x="6172200" y="1645920"/>
            <a:ext cx="5532120" cy="169164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_purpose_accent"/>
          <p:cNvSpPr/>
          <p:nvPr/>
        </p:nvSpPr>
        <p:spPr>
          <a:xfrm>
            <a:off x="6172200" y="1645920"/>
            <a:ext cx="50292" cy="1691640"/>
          </a:xfrm>
          <a:prstGeom prst="rect">
            <a:avLst/>
          </a:prstGeom>
          <a:solidFill>
            <a:srgbClr val="5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_purpose_tx"/>
          <p:cNvSpPr txBox="1"/>
          <p:nvPr/>
        </p:nvSpPr>
        <p:spPr>
          <a:xfrm>
            <a:off x="6446520" y="1847088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FA8DC"/>
                </a:solidFill>
                <a:latin typeface="Calibri"/>
              </a:rPr>
              <a:t>Purpose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Ask what acting buys, and what re-timing buys.</a:t>
            </a:r>
          </a:p>
        </p:txBody>
      </p:sp>
      <p:sp>
        <p:nvSpPr>
          <p:cNvPr id="12" name="card_read"/>
          <p:cNvSpPr/>
          <p:nvPr/>
        </p:nvSpPr>
        <p:spPr>
          <a:xfrm>
            <a:off x="6172200" y="3474720"/>
            <a:ext cx="5532120" cy="169164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_read_accent"/>
          <p:cNvSpPr/>
          <p:nvPr/>
        </p:nvSpPr>
        <p:spPr>
          <a:xfrm>
            <a:off x="6172200" y="3474720"/>
            <a:ext cx="50292" cy="1691640"/>
          </a:xfrm>
          <a:prstGeom prst="rect">
            <a:avLst/>
          </a:prstGeom>
          <a:solidFill>
            <a:srgbClr val="F18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_read_tx"/>
          <p:cNvSpPr txBox="1"/>
          <p:nvPr/>
        </p:nvSpPr>
        <p:spPr>
          <a:xfrm>
            <a:off x="6446520" y="3675887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181B4"/>
                </a:solidFill>
                <a:latin typeface="Calibri"/>
              </a:rPr>
              <a:t>How to read it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E6E9EC"/>
                </a:solidFill>
                <a:latin typeface="Calibri"/>
              </a:rPr>
              <a:t>Acting buys about ten times what re-timing buys.</a:t>
            </a:r>
          </a:p>
        </p:txBody>
      </p:sp>
      <p:sp>
        <p:nvSpPr>
          <p:cNvPr id="15" name="card_note"/>
          <p:cNvSpPr/>
          <p:nvPr/>
        </p:nvSpPr>
        <p:spPr>
          <a:xfrm>
            <a:off x="6172200" y="5303520"/>
            <a:ext cx="5532120" cy="86868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_note_accent"/>
          <p:cNvSpPr/>
          <p:nvPr/>
        </p:nvSpPr>
        <p:spPr>
          <a:xfrm>
            <a:off x="6172200" y="5303520"/>
            <a:ext cx="50292" cy="868680"/>
          </a:xfrm>
          <a:prstGeom prst="rect">
            <a:avLst/>
          </a:prstGeom>
          <a:solidFill>
            <a:srgbClr val="EFC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_note_tx"/>
          <p:cNvSpPr txBox="1"/>
          <p:nvPr/>
        </p:nvSpPr>
        <p:spPr>
          <a:xfrm>
            <a:off x="6446520" y="5468112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6E9EC"/>
                </a:solidFill>
                <a:latin typeface="Calibri"/>
              </a:rPr>
              <a:t>It matches the schedule on all three tasks, and the hand-written rules on all three too.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6 / 7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502920" y="6272784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98A0A8"/>
                </a:solidFill>
                <a:latin typeface="Calibri"/>
              </a:rPr>
              <a:t>Table 2 (closed-loop), paired bootstrap, 95% CI. Sign convention: positive = ours better; task 4 is an endpoint-RMSE difference, so a reduction is plotted as a gain (-0.1429 and -0.0073 in native sign). effect/MDE = 1.87 / 0.05 / 0.09, n = 3 seeds; defense judge = self, gain has no interval (late window). Hand-written if-else rules: +0.0042 / +0.0012 / +0.0096, all CI include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6E9EC"/>
                </a:solidFill>
                <a:latin typeface="Calibri"/>
              </a:rPr>
              <a:t>Two things that count against us, stated up front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3268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8A0A8"/>
                </a:solidFill>
                <a:latin typeface="Calibri"/>
              </a:rPr>
              <a:t>Cost · four columns too small</a:t>
            </a:r>
          </a:p>
        </p:txBody>
      </p:sp>
      <p:sp>
        <p:nvSpPr>
          <p:cNvPr id="5" name="rule"/>
          <p:cNvSpPr/>
          <p:nvPr/>
        </p:nvSpPr>
        <p:spPr>
          <a:xfrm>
            <a:off x="502920" y="1371600"/>
            <a:ext cx="11183112" cy="16459"/>
          </a:xfrm>
          <a:prstGeom prst="rect">
            <a:avLst/>
          </a:prstGeom>
          <a:solidFill>
            <a:srgbClr val="33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m"/>
          <p:cNvSpPr/>
          <p:nvPr/>
        </p:nvSpPr>
        <p:spPr>
          <a:xfrm>
            <a:off x="502920" y="1664208"/>
            <a:ext cx="5486400" cy="361188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m_accent"/>
          <p:cNvSpPr/>
          <p:nvPr/>
        </p:nvSpPr>
        <p:spPr>
          <a:xfrm>
            <a:off x="502920" y="1664208"/>
            <a:ext cx="50292" cy="3611880"/>
          </a:xfrm>
          <a:prstGeom prst="rect">
            <a:avLst/>
          </a:prstGeom>
          <a:solidFill>
            <a:srgbClr val="F18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m_h"/>
          <p:cNvSpPr txBox="1"/>
          <p:nvPr/>
        </p:nvSpPr>
        <p:spPr>
          <a:xfrm>
            <a:off x="758952" y="1865376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181B4"/>
                </a:solidFill>
                <a:latin typeface="Calibri"/>
              </a:rPr>
              <a:t>Cost</a:t>
            </a:r>
          </a:p>
        </p:txBody>
      </p:sp>
      <p:sp>
        <p:nvSpPr>
          <p:cNvPr id="9" name="lim_v"/>
          <p:cNvSpPr txBox="1"/>
          <p:nvPr/>
        </p:nvSpPr>
        <p:spPr>
          <a:xfrm>
            <a:off x="758952" y="2286000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181B4"/>
                </a:solidFill>
                <a:latin typeface="Calibri"/>
              </a:rPr>
              <a:t>322 vs 100 tokens</a:t>
            </a:r>
          </a:p>
        </p:txBody>
      </p:sp>
      <p:sp>
        <p:nvSpPr>
          <p:cNvPr id="10" name="lim_b"/>
          <p:cNvSpPr txBox="1"/>
          <p:nvPr/>
        </p:nvSpPr>
        <p:spPr>
          <a:xfrm>
            <a:off x="758952" y="2999232"/>
            <a:ext cx="501091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Task 4, per trajectory: 3.37 steps vs 1.03.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3.2× the tokens buys no measurable gain.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Under the pre-agreed equal-cost comparison, it loses to the simplest fixed schedule.</a:t>
            </a:r>
          </a:p>
        </p:txBody>
      </p:sp>
      <p:sp>
        <p:nvSpPr>
          <p:cNvPr id="11" name="lim"/>
          <p:cNvSpPr/>
          <p:nvPr/>
        </p:nvSpPr>
        <p:spPr>
          <a:xfrm>
            <a:off x="6199632" y="1664208"/>
            <a:ext cx="5486400" cy="3611880"/>
          </a:xfrm>
          <a:prstGeom prst="roundRect">
            <a:avLst>
              <a:gd name="adj" fmla="val 4000"/>
            </a:avLst>
          </a:prstGeom>
          <a:solidFill>
            <a:srgbClr val="1E242A"/>
          </a:solidFill>
          <a:ln w="9525">
            <a:solidFill>
              <a:srgbClr val="33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m_accent"/>
          <p:cNvSpPr/>
          <p:nvPr/>
        </p:nvSpPr>
        <p:spPr>
          <a:xfrm>
            <a:off x="6199632" y="1664208"/>
            <a:ext cx="50292" cy="3611880"/>
          </a:xfrm>
          <a:prstGeom prst="rect">
            <a:avLst/>
          </a:prstGeom>
          <a:solidFill>
            <a:srgbClr val="868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m_h"/>
          <p:cNvSpPr txBox="1"/>
          <p:nvPr/>
        </p:nvSpPr>
        <p:spPr>
          <a:xfrm>
            <a:off x="6455664" y="1865376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868D94"/>
                </a:solidFill>
                <a:latin typeface="Calibri"/>
              </a:rPr>
              <a:t>Four columns too small</a:t>
            </a:r>
          </a:p>
        </p:txBody>
      </p:sp>
      <p:sp>
        <p:nvSpPr>
          <p:cNvPr id="14" name="lim_v"/>
          <p:cNvSpPr txBox="1"/>
          <p:nvPr/>
        </p:nvSpPr>
        <p:spPr>
          <a:xfrm>
            <a:off x="6455664" y="2286000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868D94"/>
                </a:solidFill>
                <a:latin typeface="Calibri"/>
              </a:rPr>
              <a:t>10 / 14 / 30 / 64</a:t>
            </a:r>
          </a:p>
        </p:txBody>
      </p:sp>
      <p:sp>
        <p:nvSpPr>
          <p:cNvPr id="15" name="lim_b"/>
          <p:cNvSpPr txBox="1"/>
          <p:nvPr/>
        </p:nvSpPr>
        <p:spPr>
          <a:xfrm>
            <a:off x="6455664" y="2999232"/>
            <a:ext cx="501091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Sentiment: 10 trajectories; word length: 14.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Task 1: 30 attacks, and self-scored.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Task 2 has only 64 rows to score; the richer models overfit on them.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E6E9EC"/>
                </a:solidFill>
                <a:latin typeface="Calibri"/>
              </a:rPr>
              <a:t>All four stay in the table, but carry no conclusion.</a:t>
            </a:r>
          </a:p>
        </p:txBody>
      </p:sp>
      <p:sp>
        <p:nvSpPr>
          <p:cNvPr id="16" name="p8_close"/>
          <p:cNvSpPr txBox="1"/>
          <p:nvPr/>
        </p:nvSpPr>
        <p:spPr>
          <a:xfrm>
            <a:off x="502920" y="5504688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FC14A"/>
                </a:solidFill>
                <a:latin typeface="Calibri"/>
              </a:rPr>
              <a:t>Both go into Limitations; the cost one is the likeliest to be pressed at review.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502920" y="6053328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98A0A8"/>
                </a:solidFill>
                <a:latin typeface="Calibri"/>
              </a:rPr>
              <a:t>Cost axis is per-trajectory and deterministic (no interval); the RMSE side ties (CI includes 0). Resampling units: 10 / 14 trajectories (core), 30 attacks × 2 data seeds (task 1, judge = self), 64 eval rows (task 2).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0A8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1361</Words>
  <Application>Microsoft Macintosh PowerPoint</Application>
  <PresentationFormat>宽屏</PresentationFormat>
  <Paragraphs>181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Hongyu Cao</cp:lastModifiedBy>
  <cp:revision>2</cp:revision>
  <dcterms:created xsi:type="dcterms:W3CDTF">2013-01-27T09:14:16Z</dcterms:created>
  <dcterms:modified xsi:type="dcterms:W3CDTF">2026-09-18T12:43:13Z</dcterms:modified>
  <cp:category/>
</cp:coreProperties>
</file>